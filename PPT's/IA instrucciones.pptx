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FA3BFC-299A-4D50-80A0-C8D0092939C1}">
  <a:tblStyle styleId="{D8FA3BFC-299A-4D50-80A0-C8D0092939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50F87F1-A1D6-4A62-A07C-ACE9550458A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69a860e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69a860e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469a860e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469a860e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469a860e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469a860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469a860e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469a860e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469a860e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469a860e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69a860e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469a860e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469a860e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469a860e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469a860e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469a860e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469a860e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469a860e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3bbea2a6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3bbea2a6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3bbea2a6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3bbea2a6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3bbea2a6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3bbea2a6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3bbea2a6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3bbea2a6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469a860e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469a860e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3a8145cc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3a8145cc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3a8145cc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3a8145cc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469a860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469a860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3F3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artificialanalysis.ai/model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3780">
                <a:solidFill>
                  <a:srgbClr val="38761D"/>
                </a:solidFill>
                <a:highlight>
                  <a:srgbClr val="D9EAD3"/>
                </a:highlight>
                <a:latin typeface="Comic Sans MS"/>
                <a:ea typeface="Comic Sans MS"/>
                <a:cs typeface="Comic Sans MS"/>
                <a:sym typeface="Comic Sans MS"/>
              </a:rPr>
              <a:t>Inteligencia Artificial</a:t>
            </a:r>
            <a:endParaRPr b="1" sz="3780">
              <a:solidFill>
                <a:srgbClr val="38761D"/>
              </a:solidFill>
              <a:highlight>
                <a:srgbClr val="B6D7A8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780">
              <a:solidFill>
                <a:srgbClr val="38761D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2500" y="2405125"/>
            <a:ext cx="7299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4"/>
              <a:buNone/>
            </a:pPr>
            <a:r>
              <a:rPr lang="es-419" sz="7346">
                <a:latin typeface="Comic Sans MS"/>
                <a:ea typeface="Comic Sans MS"/>
                <a:cs typeface="Comic Sans MS"/>
                <a:sym typeface="Comic Sans MS"/>
              </a:rPr>
              <a:t>Una nueva forma de pensar</a:t>
            </a:r>
            <a:endParaRPr sz="7346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4750">
              <a:solidFill>
                <a:srgbClr val="11111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SzPct val="42889"/>
              <a:buNone/>
            </a:pPr>
            <a:r>
              <a:t/>
            </a:r>
            <a:endParaRPr sz="218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675500" y="2864275"/>
            <a:ext cx="5793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999999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Universidad de Buenos Aires - Facultad de Ciencias Económicas</a:t>
            </a:r>
            <a:endParaRPr>
              <a:solidFill>
                <a:srgbClr val="9999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999999"/>
                </a:solidFill>
                <a:latin typeface="Comic Sans MS"/>
                <a:ea typeface="Comic Sans MS"/>
                <a:cs typeface="Comic Sans MS"/>
                <a:sym typeface="Comic Sans MS"/>
              </a:rPr>
              <a:t>Tecnicatura en Gestión y Análisis de Datos en Organizaciones</a:t>
            </a:r>
            <a:endParaRPr>
              <a:solidFill>
                <a:srgbClr val="9999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999999"/>
                </a:solidFill>
                <a:latin typeface="Comic Sans MS"/>
                <a:ea typeface="Comic Sans MS"/>
                <a:cs typeface="Comic Sans MS"/>
                <a:sym typeface="Comic Sans MS"/>
              </a:rPr>
              <a:t>Laboratorio de </a:t>
            </a:r>
            <a:r>
              <a:rPr lang="es-419">
                <a:solidFill>
                  <a:srgbClr val="999999"/>
                </a:solidFill>
                <a:latin typeface="Comic Sans MS"/>
                <a:ea typeface="Comic Sans MS"/>
                <a:cs typeface="Comic Sans MS"/>
                <a:sym typeface="Comic Sans MS"/>
              </a:rPr>
              <a:t>Métodos</a:t>
            </a:r>
            <a:r>
              <a:rPr lang="es-419">
                <a:solidFill>
                  <a:srgbClr val="9999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Cuantitativos para la gestión</a:t>
            </a:r>
            <a:endParaRPr>
              <a:solidFill>
                <a:srgbClr val="9999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5500" y="4839675"/>
            <a:ext cx="39135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9E9E9E"/>
                </a:solidFill>
                <a:latin typeface="Comic Sans MS"/>
                <a:ea typeface="Comic Sans MS"/>
                <a:cs typeface="Comic Sans MS"/>
                <a:sym typeface="Comic Sans MS"/>
              </a:rPr>
              <a:t>Juan Da Torre - Gina Marrazzo</a:t>
            </a:r>
            <a:endParaRPr>
              <a:solidFill>
                <a:srgbClr val="9E9E9E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-71300" y="107000"/>
            <a:ext cx="8773200" cy="4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28019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AutoNum type="arabicPeriod"/>
            </a:pPr>
            <a: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Datos</a:t>
            </a:r>
            <a:b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La IA aprende a partir de enormes conjuntos de datos (texto, imágenes, audio).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Ejemplo: para entrenar un modelo de lenguaje se usan libros, artículos, webs, código, etc.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AutoNum type="arabicPeriod"/>
            </a:pPr>
            <a: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Modelo (Red Neuronal)</a:t>
            </a:r>
            <a:b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El “cerebro” de la IA.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Tiene millones o billones de parámetros (ajustes internos) que le permiten detectar patrones.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Arquitecturas comunes: </a:t>
            </a:r>
            <a:r>
              <a:rPr i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Transformers</a:t>
            </a: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(los que usa ChatGPT y otros modelos modernos).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AutoNum type="arabicPeriod"/>
            </a:pPr>
            <a: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Infraestructura Computacional</a:t>
            </a:r>
            <a:b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 necesitan </a:t>
            </a:r>
            <a: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GPU o TPU</a:t>
            </a: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(placas gráficas muy potentes) para entrenar y ejecutar modelos.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Cuanto más grande el modelo, más hardware y energía requiere.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AutoNum type="arabicPeriod"/>
            </a:pPr>
            <a: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Entrenamiento</a:t>
            </a:r>
            <a:b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El modelo ajusta sus parámetros viendo ejemplos y “aprendiendo” probabilidades.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Este proceso puede llevar semanas o meses en supercomputadoras.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AutoNum type="arabicPeriod"/>
            </a:pPr>
            <a: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Inferencia</a:t>
            </a:r>
            <a:b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Una vez entrenada, la IA responde en tiempo real usando lo que aprendió.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Ejemplo: cuando vos escribís un prompt, la IA calcula palabra por palabra cuál es la respuesta más probable.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AutoNum type="arabicPeriod"/>
            </a:pPr>
            <a: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Interfaz de Usuario</a:t>
            </a:r>
            <a:br>
              <a:rPr b="1"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 que vos usás: ChatGPT, MidJourney, Gemini, etc.</a:t>
            </a:r>
            <a:b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2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01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○"/>
            </a:pPr>
            <a:r>
              <a:rPr lang="es-419" sz="32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Traducen la complejidad técnica en algo simple para cualquier usuario.</a:t>
            </a:r>
            <a:endParaRPr sz="845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968700" y="107000"/>
            <a:ext cx="457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Componentes de una IA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450" y="1196150"/>
            <a:ext cx="2433324" cy="21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95925" y="440250"/>
            <a:ext cx="8678100" cy="13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28612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●"/>
            </a:pP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Un token es como una “palabra partida en pedacitos” que la IA usa para procesar el texto</a:t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28612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●"/>
            </a:pP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Por qué importa? </a:t>
            </a:r>
            <a:b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debido a que la cantidad de tokens afecta el costo, la memoria y la velocidad de la IA</a:t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2031825" y="149125"/>
            <a:ext cx="457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oken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638" y="2263625"/>
            <a:ext cx="7018675" cy="268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0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1056"/>
            <a:ext cx="9144001" cy="4661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3780">
                <a:solidFill>
                  <a:srgbClr val="38761D"/>
                </a:solidFill>
                <a:highlight>
                  <a:srgbClr val="D9EAD3"/>
                </a:highlight>
                <a:latin typeface="Comic Sans MS"/>
                <a:ea typeface="Comic Sans MS"/>
                <a:cs typeface="Comic Sans MS"/>
                <a:sym typeface="Comic Sans MS"/>
              </a:rPr>
              <a:t>Mercado de IAs</a:t>
            </a:r>
            <a:endParaRPr b="1" sz="3780">
              <a:solidFill>
                <a:srgbClr val="38761D"/>
              </a:solidFill>
              <a:highlight>
                <a:srgbClr val="D9EAD3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2180">
                <a:latin typeface="Comic Sans MS"/>
                <a:ea typeface="Comic Sans MS"/>
                <a:cs typeface="Comic Sans MS"/>
                <a:sym typeface="Comic Sans MS"/>
              </a:rPr>
              <a:t>¿Cuál debo usar? ¿Cuál es la mejor?</a:t>
            </a:r>
            <a:endParaRPr sz="218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6753"/>
            <a:ext cx="9143999" cy="207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 title="Intelligence vs Price (16 Aug '25)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58147"/>
            <a:ext cx="4312125" cy="253295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5055525" y="3212200"/>
            <a:ext cx="36627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2889"/>
              <a:buNone/>
            </a:pPr>
            <a:r>
              <a:rPr lang="es-419" sz="2180">
                <a:latin typeface="Comic Sans MS"/>
                <a:ea typeface="Comic Sans MS"/>
                <a:cs typeface="Comic Sans MS"/>
                <a:sym typeface="Comic Sans MS"/>
              </a:rPr>
              <a:t>Para </a:t>
            </a:r>
            <a:r>
              <a:rPr lang="es-419" sz="2180">
                <a:latin typeface="Comic Sans MS"/>
                <a:ea typeface="Comic Sans MS"/>
                <a:cs typeface="Comic Sans MS"/>
                <a:sym typeface="Comic Sans MS"/>
              </a:rPr>
              <a:t>más</a:t>
            </a:r>
            <a:r>
              <a:rPr lang="es-419" sz="2180">
                <a:latin typeface="Comic Sans MS"/>
                <a:ea typeface="Comic Sans MS"/>
                <a:cs typeface="Comic Sans MS"/>
                <a:sym typeface="Comic Sans MS"/>
              </a:rPr>
              <a:t> info:</a:t>
            </a:r>
            <a:endParaRPr sz="218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2889"/>
              <a:buNone/>
            </a:pPr>
            <a:r>
              <a:rPr lang="es-419" sz="2180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5"/>
              </a:rPr>
              <a:t>https://artificialanalysis.ai/models</a:t>
            </a:r>
            <a:endParaRPr sz="218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20"/>
          <p:cNvGraphicFramePr/>
          <p:nvPr/>
        </p:nvGraphicFramePr>
        <p:xfrm>
          <a:off x="74888" y="18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{D8FA3BFC-299A-4D50-80A0-C8D0092939C1}</a:tableStyleId>
              </a:tblPr>
              <a:tblGrid>
                <a:gridCol w="666900"/>
                <a:gridCol w="1068200"/>
                <a:gridCol w="3929675"/>
                <a:gridCol w="3329450"/>
              </a:tblGrid>
              <a:tr h="37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Modelo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Enfoque Principal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Puntos Fuertes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Limitaciones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8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ChatGPT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Versatilidad y calidad de texto.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Respuestas muy naturales y detalladas. Gran variedad gracias a los GPTs personalizados.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La creación de imágenes es limitada en la versión gratuita.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Gemini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Integración con servicios de Google.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Capaz de buscar información y archivos en Google Drive y otros servicios de Google. Fuerte en multimodalidad (texto, imágenes, voz).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Menos versátil y las respuestas pueden ser más breves que las de ChatGPT.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Copilot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Integración con Microsoft y creación de imágenes.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Excelente para crear imágenes de forma gratuita con DALL-E 3. Se integra muy bien con las aplicaciones de Office.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A veces, las respuestas son demasiado genéricas o poco extensas.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DeepSeek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Poder de razonamiento y uso local.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Ofrece mucho en su versión gratuita. Sus respuestas son bien estructuradas. Puede usarse sin conexión en tu PC.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No genera imágenes. Su origen chino genera preocupaciones sobre la privacidad y restricciones de contenido.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Grok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Búsqueda en X (Twitter) y contenido sin censura.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Puede buscar información directamente en X. El generador de imágenes tiene menos filtros éticos. Tono desenfadado.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Menor rigor en las respuestas y puede generar contenido polémico. Necesita la app de X.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Le Chat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Velocidad y privacidad.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Muy rápido y versátil. Se enfoca en la privacidad. Sus respuestas se basan en fuentes de alta calidad.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Su versión móvil no es tan moderna. Aún está en fase beta, con resultados a veces inconsistentes en la generación de imágenes.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Claude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Calidad de redacción y análisis de texto.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Respuestas bien redactadas, concisas y claras. Es menos cauteloso con temas polémicos. Permite seleccionar estilos de escritura (formal, conciso, etc.).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No puede navegar por Internet ni crear imágenes, lo que lo pone en desventaja.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21"/>
          <p:cNvGraphicFramePr/>
          <p:nvPr/>
        </p:nvGraphicFramePr>
        <p:xfrm>
          <a:off x="142675" y="95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{D8FA3BFC-299A-4D50-80A0-C8D0092939C1}</a:tableStyleId>
              </a:tblPr>
              <a:tblGrid>
                <a:gridCol w="1673725"/>
                <a:gridCol w="1381050"/>
                <a:gridCol w="5725400"/>
              </a:tblGrid>
              <a:tr h="20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Función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IA Recomendada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Razón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77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Generación de texto de alta calidad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ChatGPT, Claude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ChatGPT es muy versátil y fluido, mientras que Claude tiene una redacción impecable y permite estilos.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Creación de imágenes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Copilot (gratis), Grok (sin censura)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Copilot tiene uno de los mejores generadores de imágenes gratuitos. Grok es útil si necesitas imágenes con menos filtros.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Búsquedas en Internet y datos actualizados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ChatGPT, Gemini, Grok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Estas IAs son capaces de buscar en tiempo real para darte respuestas actualizadas, siendo Grok único por su acceso a la información de X.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Análisis de documentos y datos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ChatGPT, Gemini, Claude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Estos modelos permiten subir archivos para analizarlos y responder preguntas sobre su contenido, siendo muy útiles para resumir o extraer información.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Uso local y privacidad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DeepSeek, Le Chat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Ambas IAs se pueden usar sin conexión (DeepSeek) o con un fuerte enfoque en la privacidad (Le Chat), ideal si manejas datos sensibles.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Integración con servicios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Gemini (Google), Copilot (Microsoft)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Estos modelos son ideales si trabajas en esos ecosistemas, ya que pueden acceder directamente a tu información en la nube.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3780">
                <a:solidFill>
                  <a:srgbClr val="38761D"/>
                </a:solidFill>
                <a:highlight>
                  <a:srgbClr val="D9EAD3"/>
                </a:highlight>
                <a:latin typeface="Comic Sans MS"/>
                <a:ea typeface="Comic Sans MS"/>
                <a:cs typeface="Comic Sans MS"/>
                <a:sym typeface="Comic Sans MS"/>
              </a:rPr>
              <a:t>Ingeniería</a:t>
            </a:r>
            <a:r>
              <a:rPr b="1" lang="es-419" sz="3780">
                <a:solidFill>
                  <a:srgbClr val="38761D"/>
                </a:solidFill>
                <a:highlight>
                  <a:srgbClr val="D9EAD3"/>
                </a:highlight>
                <a:latin typeface="Comic Sans MS"/>
                <a:ea typeface="Comic Sans MS"/>
                <a:cs typeface="Comic Sans MS"/>
                <a:sym typeface="Comic Sans MS"/>
              </a:rPr>
              <a:t> en prompt</a:t>
            </a:r>
            <a:endParaRPr b="1" sz="3780">
              <a:solidFill>
                <a:srgbClr val="38761D"/>
              </a:solidFill>
              <a:highlight>
                <a:srgbClr val="D9EAD3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2180">
                <a:latin typeface="Comic Sans MS"/>
                <a:ea typeface="Comic Sans MS"/>
                <a:cs typeface="Comic Sans MS"/>
                <a:sym typeface="Comic Sans MS"/>
              </a:rPr>
              <a:t>Utilización</a:t>
            </a:r>
            <a:r>
              <a:rPr lang="es-419" sz="2180">
                <a:latin typeface="Comic Sans MS"/>
                <a:ea typeface="Comic Sans MS"/>
                <a:cs typeface="Comic Sans MS"/>
                <a:sym typeface="Comic Sans MS"/>
              </a:rPr>
              <a:t> de herramienta de manera eficaz</a:t>
            </a:r>
            <a:endParaRPr sz="218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69525" y="471450"/>
            <a:ext cx="8773200" cy="4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861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●"/>
            </a:pP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 una disciplina emergente que se enfoca en diseñar y optimizar las consultas/instrucciones (Prompts) que se le dan a los modelos LLM (IAs) para obtener resultados </a:t>
            </a: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más</a:t>
            </a: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precisos y </a:t>
            </a: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útiles</a:t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861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●"/>
            </a:pP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Tirar un prompt eficaz reduce/acota la búsqueda de información, ajusta el tono, se basa en determinados contextos, y logra un output mucho más puro con mas filtro.</a:t>
            </a:r>
            <a:b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861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●"/>
            </a:pP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Ahora, </a:t>
            </a:r>
            <a:r>
              <a:rPr lang="es-419" sz="6300">
                <a:solidFill>
                  <a:schemeClr val="dk1"/>
                </a:solidFill>
                <a:highlight>
                  <a:srgbClr val="D9EAD3"/>
                </a:highlight>
                <a:latin typeface="Comic Sans MS"/>
                <a:ea typeface="Comic Sans MS"/>
                <a:cs typeface="Comic Sans MS"/>
                <a:sym typeface="Comic Sans MS"/>
              </a:rPr>
              <a:t>cómo se diseña un prompt?</a:t>
            </a: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Veamos un ejemplo en ChatGPT.</a:t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8" name="Google Shape;118;p23"/>
          <p:cNvSpPr txBox="1"/>
          <p:nvPr/>
        </p:nvSpPr>
        <p:spPr>
          <a:xfrm>
            <a:off x="2168475" y="186575"/>
            <a:ext cx="457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¿</a:t>
            </a: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Qué</a:t>
            </a: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 es y para </a:t>
            </a: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qué</a:t>
            </a: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 sirve?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13" y="231675"/>
            <a:ext cx="446722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4849400" y="0"/>
            <a:ext cx="3925200" cy="4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75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 el apartado de </a:t>
            </a:r>
            <a:r>
              <a:rPr lang="es-419" sz="1775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personalizar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 ChatGPT vemos los siguientes casilleros. 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Aquí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nosotros podemos completar para otorgarle 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más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contexto a la IA.</a:t>
            </a:r>
            <a:endParaRPr sz="1775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Algunos de los puntos que vemos en la imagen son a gusto personal, otros tienen una 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visión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más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técnica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</a:t>
            </a:r>
            <a:r>
              <a:rPr lang="es-419" sz="1775">
                <a:solidFill>
                  <a:schemeClr val="dk1"/>
                </a:solidFill>
                <a:highlight>
                  <a:srgbClr val="D9EAD3"/>
                </a:highlight>
                <a:latin typeface="Comic Sans MS"/>
                <a:ea typeface="Comic Sans MS"/>
                <a:cs typeface="Comic Sans MS"/>
                <a:sym typeface="Comic Sans MS"/>
              </a:rPr>
              <a:t>Recomendamos explorar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buenos prompts orientados a sus gustos y necesidades. S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 puede ajustar el prompt d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ependiendo del 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Área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 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Interés</a:t>
            </a:r>
            <a:r>
              <a:rPr lang="es-419" sz="1775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/Trabajo/Estudio.</a:t>
            </a:r>
            <a:endParaRPr sz="1775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75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65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65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4745425" y="-336600"/>
            <a:ext cx="3931800" cy="3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7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Un </a:t>
            </a:r>
            <a:r>
              <a:rPr lang="es-419" sz="6700">
                <a:solidFill>
                  <a:schemeClr val="dk1"/>
                </a:solidFill>
                <a:highlight>
                  <a:srgbClr val="D9EAD3"/>
                </a:highlight>
                <a:latin typeface="Comic Sans MS"/>
                <a:ea typeface="Comic Sans MS"/>
                <a:cs typeface="Comic Sans MS"/>
                <a:sym typeface="Comic Sans MS"/>
              </a:rPr>
              <a:t>ejemplo de prompt </a:t>
            </a:r>
            <a:r>
              <a:rPr lang="es-419" sz="67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orientado a una tarea </a:t>
            </a:r>
            <a:r>
              <a:rPr lang="es-419" sz="67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específica, con un contexto determinado y con los inputs necesarios.</a:t>
            </a:r>
            <a:endParaRPr sz="67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5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Siempre que hagamos un prompt debemos </a:t>
            </a:r>
            <a:r>
              <a:rPr lang="es-419" sz="59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otorgarle una especialidad</a:t>
            </a:r>
            <a:r>
              <a:rPr lang="es-419" sz="5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 nuestra IA, en este caso economista con especialización de microeconomía. De esta manera el LLM al buscar la data ajusta su puntería a cuestiones pertenecientes al mundo de la economía, específicamente microeconomía y aún más específico organización industrial. Además, podemos adjuntar archivos para que ajuste mejor.</a:t>
            </a:r>
            <a:endParaRPr sz="5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5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Por otro lado, debemos </a:t>
            </a:r>
            <a:r>
              <a:rPr lang="es-419" sz="59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definir el tono/manera</a:t>
            </a:r>
            <a:r>
              <a:rPr lang="es-419" sz="5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(Amigable, al grano, científico), </a:t>
            </a:r>
            <a:r>
              <a:rPr lang="es-419" sz="59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Para quien va dirigido el output</a:t>
            </a:r>
            <a:r>
              <a:rPr lang="es-419" sz="5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(Alumnos, especialista) y lo más importante el </a:t>
            </a:r>
            <a:r>
              <a:rPr b="1" lang="es-419" sz="59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Objetivo</a:t>
            </a:r>
            <a:r>
              <a:rPr lang="es-419" sz="5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5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50" y="83150"/>
            <a:ext cx="3807800" cy="424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/>
        </p:nvSpPr>
        <p:spPr>
          <a:xfrm>
            <a:off x="702575" y="4378575"/>
            <a:ext cx="33510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PD: Decirle gracias demuestra una </a:t>
            </a:r>
            <a:r>
              <a:rPr lang="es-419" sz="1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correlación</a:t>
            </a:r>
            <a:r>
              <a:rPr lang="es-419" sz="1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positiva, </a:t>
            </a:r>
            <a:r>
              <a:rPr lang="es-419" sz="1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podríamos</a:t>
            </a:r>
            <a:r>
              <a:rPr lang="es-419" sz="1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considerar que aumenta  efectividad</a:t>
            </a:r>
            <a:endParaRPr sz="1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69525" y="679175"/>
            <a:ext cx="8773200" cy="4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231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●"/>
            </a:pPr>
            <a:r>
              <a:rPr b="1"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Problemas de Confiabilidad y Sesgo</a:t>
            </a:r>
            <a:endParaRPr b="1" sz="5273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Las IAs pueden cometer errores graves. A menudo </a:t>
            </a:r>
            <a:r>
              <a:rPr b="1" lang="es-419" sz="5273">
                <a:solidFill>
                  <a:schemeClr val="dk1"/>
                </a:solidFill>
                <a:highlight>
                  <a:srgbClr val="B6D7A8"/>
                </a:highlight>
                <a:latin typeface="Comic Sans MS"/>
                <a:ea typeface="Comic Sans MS"/>
                <a:cs typeface="Comic Sans MS"/>
                <a:sym typeface="Comic Sans MS"/>
              </a:rPr>
              <a:t>alucinan</a:t>
            </a:r>
            <a:r>
              <a:rPr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es decir, inventan información falsa y la presentan como un hecho. Además, no son imparciales: reflejan y perpetúan </a:t>
            </a:r>
            <a:r>
              <a:rPr b="1" lang="es-419" sz="5273">
                <a:solidFill>
                  <a:schemeClr val="dk1"/>
                </a:solidFill>
                <a:highlight>
                  <a:srgbClr val="B6D7A8"/>
                </a:highlight>
                <a:latin typeface="Comic Sans MS"/>
                <a:ea typeface="Comic Sans MS"/>
                <a:cs typeface="Comic Sans MS"/>
                <a:sym typeface="Comic Sans MS"/>
              </a:rPr>
              <a:t>sesgos</a:t>
            </a:r>
            <a:r>
              <a:rPr lang="es-419" sz="5273">
                <a:solidFill>
                  <a:schemeClr val="dk1"/>
                </a:solidFill>
                <a:highlight>
                  <a:srgbClr val="B6D7A8"/>
                </a:highlight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(raciales, de género, etc.) que estaban en los datos con los que fueron entrenadas.</a:t>
            </a:r>
            <a:endParaRPr sz="5273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231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●"/>
            </a:pPr>
            <a:r>
              <a:rPr b="1"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Problemas de Ética y Seguridad</a:t>
            </a:r>
            <a:endParaRPr b="1" sz="5273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El uso de la IA genera preocupaciones importantes. Modelos con pocos filtros pueden crear </a:t>
            </a:r>
            <a:r>
              <a:rPr b="1"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contenido inapropiado o dañino</a:t>
            </a:r>
            <a:r>
              <a:rPr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Además, hay un debate sobre la </a:t>
            </a:r>
            <a:r>
              <a:rPr b="1" lang="es-419" sz="5273">
                <a:solidFill>
                  <a:schemeClr val="dk1"/>
                </a:solidFill>
                <a:highlight>
                  <a:srgbClr val="B6D7A8"/>
                </a:highlight>
                <a:latin typeface="Comic Sans MS"/>
                <a:ea typeface="Comic Sans MS"/>
                <a:cs typeface="Comic Sans MS"/>
                <a:sym typeface="Comic Sans MS"/>
              </a:rPr>
              <a:t>falta de transparencia</a:t>
            </a:r>
            <a:r>
              <a:rPr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 estas tecnologías, ya que es casi imposible entender cómo llegan a sus respuestas. También existe el riesgo de que tus </a:t>
            </a:r>
            <a:r>
              <a:rPr b="1"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datos personales</a:t>
            </a:r>
            <a:r>
              <a:rPr lang="es-419" sz="5273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sean usados para entrenar futuros modelos.</a:t>
            </a:r>
            <a:endParaRPr sz="5273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2168475" y="186575"/>
            <a:ext cx="457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Problemas de las IA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604000"/>
            <a:ext cx="86244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286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Char char="●"/>
            </a:pP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Aprender pasa por vos: es algo que decidís hacer, no algo que alguien (ni siquiera ChatGPT) te puede inyectar.</a:t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286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fortaa"/>
              <a:buChar char="●"/>
            </a:pP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Aunque parezca raro que te lo digamos en una clase donde vamos a hablar de herramientas digitales... lo más efectivo para aprender de verdad es </a:t>
            </a:r>
            <a:r>
              <a:rPr b="1"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 usar IA</a:t>
            </a: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Intentá resolver solo/a, trabate, pensá, </a:t>
            </a: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equivocate</a:t>
            </a: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</a:t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286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fortaa"/>
              <a:buChar char="●"/>
            </a:pP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Sabemos que es muy tentador usarla cuando no entendés algo o cuando tenés poco tiempo. Te dejamos </a:t>
            </a:r>
            <a:r>
              <a:rPr b="1"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el siguiente cuadro </a:t>
            </a: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para que, si vas a usarla, lo hagas </a:t>
            </a:r>
            <a:r>
              <a:rPr b="1"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 cabeza y criterio</a:t>
            </a:r>
            <a:r>
              <a:rPr lang="es-419" sz="6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6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2168475" y="186575"/>
            <a:ext cx="457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Entonces…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28"/>
          <p:cNvGraphicFramePr/>
          <p:nvPr/>
        </p:nvGraphicFramePr>
        <p:xfrm>
          <a:off x="952500" y="27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{350F87F1-A1D6-4A62-A07C-ACE9550458A9}</a:tableStyleId>
              </a:tblPr>
              <a:tblGrid>
                <a:gridCol w="3619500"/>
                <a:gridCol w="3619500"/>
              </a:tblGrid>
              <a:tr h="8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700">
                          <a:solidFill>
                            <a:srgbClr val="38761D"/>
                          </a:solidFill>
                          <a:highlight>
                            <a:srgbClr val="D9EAD3"/>
                          </a:highlight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RIESGO</a:t>
                      </a:r>
                      <a:endParaRPr b="1" sz="1700">
                        <a:solidFill>
                          <a:srgbClr val="38761D"/>
                        </a:solidFill>
                        <a:highlight>
                          <a:srgbClr val="D9EAD3"/>
                        </a:highlight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La IA…</a:t>
                      </a:r>
                      <a:endParaRPr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700">
                          <a:solidFill>
                            <a:srgbClr val="38761D"/>
                          </a:solidFill>
                          <a:highlight>
                            <a:srgbClr val="D9EAD3"/>
                          </a:highlight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USO CONSCIENTE</a:t>
                      </a:r>
                      <a:endParaRPr b="1" sz="1700">
                        <a:solidFill>
                          <a:srgbClr val="38761D"/>
                        </a:solidFill>
                        <a:highlight>
                          <a:srgbClr val="D9EAD3"/>
                        </a:highlight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puede equivocarse o inventar cosas</a:t>
                      </a:r>
                      <a:b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</a:b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(Puntos ciegos)</a:t>
                      </a:r>
                      <a:endParaRPr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Verificar </a:t>
                      </a:r>
                      <a:r>
                        <a:rPr b="1"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siempre</a:t>
                      </a: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 lo que sugiere (</a:t>
                      </a: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Minimizar</a:t>
                      </a: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 sesgos)</a:t>
                      </a:r>
                      <a:endParaRPr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puede responder con sesgos</a:t>
                      </a:r>
                      <a:endParaRPr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Evaluar críticamente las respuestas y contrastarlas con otras fuentes</a:t>
                      </a:r>
                      <a:endParaRPr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genera una falsa sensación de “entender” por tener la respuesta</a:t>
                      </a:r>
                      <a:endParaRPr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Intentar resolver primero por cuenta propia y luego usarla como refuerzo</a:t>
                      </a:r>
                      <a:endParaRPr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puede responder sin entender el contexto del ejercicio o consigna</a:t>
                      </a:r>
                      <a:endParaRPr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Darle contexto claro </a:t>
                      </a:r>
                      <a:endParaRPr sz="1600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738" y="1353463"/>
            <a:ext cx="6372225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/>
        </p:nvSpPr>
        <p:spPr>
          <a:xfrm>
            <a:off x="2154088" y="395200"/>
            <a:ext cx="457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Si la IA hace todo, que nos queda a nosotros ?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2191363" y="4130100"/>
            <a:ext cx="457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 u="sng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Pensar en el caso de la escritura, imprenta, calculadora y google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