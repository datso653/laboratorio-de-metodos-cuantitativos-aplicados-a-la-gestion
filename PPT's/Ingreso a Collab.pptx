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F1ElKxBzyGYjpISkY69yCX/Ck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A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A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66264d3eb_1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g3766264d3eb_1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646b23f07e_1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g3646b23f07e_1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66264d3eb_1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g3766264d3eb_1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hyperlink" Target="https://colab.research.google.com/notebooks/welcome.ipynb?hl=es" TargetMode="External"/><Relationship Id="rId6" Type="http://schemas.openxmlformats.org/officeDocument/2006/relationships/hyperlink" Target="https://colab.research.google.com/notebooks/welcome.ipynb?hl=es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1683291" y="2678532"/>
            <a:ext cx="8543925" cy="1286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lang="en-AR" sz="3600" u="sng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Laboratorio de Métodos Cuantitativos</a:t>
            </a:r>
            <a:endParaRPr sz="3600" u="sng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3454012" y="4291288"/>
            <a:ext cx="5002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AR" sz="23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Ambiente de trabajo en Google Colaboratory</a:t>
            </a:r>
            <a:endParaRPr b="0" i="0" sz="17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91" name="Google Shape;91;p1" title="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2375" y="67650"/>
            <a:ext cx="7687239" cy="2373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2"/>
          <p:cNvGrpSpPr/>
          <p:nvPr/>
        </p:nvGrpSpPr>
        <p:grpSpPr>
          <a:xfrm>
            <a:off x="3675970" y="1794223"/>
            <a:ext cx="4796032" cy="1339009"/>
            <a:chOff x="3675970" y="1922775"/>
            <a:chExt cx="4796032" cy="1339009"/>
          </a:xfrm>
        </p:grpSpPr>
        <p:sp>
          <p:nvSpPr>
            <p:cNvPr id="97" name="Google Shape;97;p2"/>
            <p:cNvSpPr/>
            <p:nvPr/>
          </p:nvSpPr>
          <p:spPr>
            <a:xfrm>
              <a:off x="3726625" y="1922775"/>
              <a:ext cx="1100356" cy="972000"/>
            </a:xfrm>
            <a:prstGeom prst="upArrowCallout">
              <a:avLst>
                <a:gd fmla="val 25000" name="adj1"/>
                <a:gd fmla="val 25000" name="adj2"/>
                <a:gd fmla="val 17509" name="adj3"/>
                <a:gd fmla="val 63907" name="adj4"/>
              </a:avLst>
            </a:prstGeom>
            <a:solidFill>
              <a:srgbClr val="B3C6E7"/>
            </a:solidFill>
            <a:ln cap="flat" cmpd="sng" w="28575">
              <a:solidFill>
                <a:srgbClr val="B3C6E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7365021" y="1922775"/>
              <a:ext cx="1100356" cy="972000"/>
            </a:xfrm>
            <a:prstGeom prst="upArrowCallout">
              <a:avLst>
                <a:gd fmla="val 25000" name="adj1"/>
                <a:gd fmla="val 25000" name="adj2"/>
                <a:gd fmla="val 17509" name="adj3"/>
                <a:gd fmla="val 63907" name="adj4"/>
              </a:avLst>
            </a:prstGeom>
            <a:solidFill>
              <a:srgbClr val="B3C6E7"/>
            </a:solidFill>
            <a:ln cap="flat" cmpd="sng" w="28575">
              <a:solidFill>
                <a:srgbClr val="B3C6E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3675970" y="2253784"/>
              <a:ext cx="4796032" cy="1008000"/>
            </a:xfrm>
            <a:prstGeom prst="downArrowCallout">
              <a:avLst>
                <a:gd fmla="val 25000" name="adj1"/>
                <a:gd fmla="val 25000" name="adj2"/>
                <a:gd fmla="val 25000" name="adj3"/>
                <a:gd fmla="val 64977" name="adj4"/>
              </a:avLst>
            </a:prstGeom>
            <a:gradFill>
              <a:gsLst>
                <a:gs pos="0">
                  <a:srgbClr val="F5F7FC"/>
                </a:gs>
                <a:gs pos="74000">
                  <a:srgbClr val="A9BEE4"/>
                </a:gs>
                <a:gs pos="83000">
                  <a:srgbClr val="A9BEE4"/>
                </a:gs>
                <a:gs pos="100000">
                  <a:srgbClr val="C5D3ED"/>
                </a:gs>
              </a:gsLst>
              <a:lin ang="5400000" scaled="0"/>
            </a:gradFill>
            <a:ln cap="flat" cmpd="sng" w="28575">
              <a:solidFill>
                <a:srgbClr val="B3C6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AR" sz="3200" u="none" cap="none" strike="noStrike">
                  <a:solidFill>
                    <a:srgbClr val="1E4E79"/>
                  </a:solidFill>
                  <a:latin typeface="Arial"/>
                  <a:ea typeface="Arial"/>
                  <a:cs typeface="Arial"/>
                  <a:sym typeface="Arial"/>
                </a:rPr>
                <a:t>Google Colaboratory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"/>
          <p:cNvSpPr/>
          <p:nvPr/>
        </p:nvSpPr>
        <p:spPr>
          <a:xfrm>
            <a:off x="697550" y="347399"/>
            <a:ext cx="5040000" cy="1412400"/>
          </a:xfrm>
          <a:prstGeom prst="roundRect">
            <a:avLst>
              <a:gd fmla="val 16667" name="adj"/>
            </a:avLst>
          </a:prstGeom>
          <a:solidFill>
            <a:srgbClr val="D8E2F3"/>
          </a:solidFill>
          <a:ln cap="flat" cmpd="sng" w="28575">
            <a:solidFill>
              <a:srgbClr val="B3C6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A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un entorno gratuito de Jupyter Notebook que permite programar y ejecutar un código de Python en el navegador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6461250" y="353150"/>
            <a:ext cx="5040000" cy="1412400"/>
          </a:xfrm>
          <a:prstGeom prst="roundRect">
            <a:avLst>
              <a:gd fmla="val 16667" name="adj"/>
            </a:avLst>
          </a:prstGeom>
          <a:solidFill>
            <a:srgbClr val="D8E2F3"/>
          </a:solidFill>
          <a:ln cap="flat" cmpd="sng" w="28575">
            <a:solidFill>
              <a:srgbClr val="B3C6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A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adecuado para tareas de aprendizaje automático y análisis de datos, entre otras utilidades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2" name="Google Shape;102;p2"/>
          <p:cNvGrpSpPr/>
          <p:nvPr/>
        </p:nvGrpSpPr>
        <p:grpSpPr>
          <a:xfrm>
            <a:off x="2741247" y="3167644"/>
            <a:ext cx="6665476" cy="2707849"/>
            <a:chOff x="300911" y="1426"/>
            <a:chExt cx="6665476" cy="2707849"/>
          </a:xfrm>
        </p:grpSpPr>
        <p:sp>
          <p:nvSpPr>
            <p:cNvPr id="103" name="Google Shape;103;p2"/>
            <p:cNvSpPr/>
            <p:nvPr/>
          </p:nvSpPr>
          <p:spPr>
            <a:xfrm>
              <a:off x="300911" y="1426"/>
              <a:ext cx="2082961" cy="1249776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B3C6E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2"/>
            <p:cNvSpPr txBox="1"/>
            <p:nvPr/>
          </p:nvSpPr>
          <p:spPr>
            <a:xfrm>
              <a:off x="300911" y="1426"/>
              <a:ext cx="2082961" cy="1249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AR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No requiere de configuración</a:t>
              </a:r>
              <a:r>
                <a:rPr b="0" i="0" lang="en-AR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2592169" y="1426"/>
              <a:ext cx="2082961" cy="1249776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B3C6E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2592169" y="1426"/>
              <a:ext cx="2082961" cy="1249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AR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Acceso a procesadores gratuitos en la nube de Google</a:t>
              </a:r>
              <a:r>
                <a:rPr b="0" i="0" lang="en-AR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883426" y="1426"/>
              <a:ext cx="2082961" cy="1249776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B3C6E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4883426" y="1426"/>
              <a:ext cx="2082961" cy="1249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AR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Conectado a Google Drive personal</a:t>
              </a:r>
              <a:r>
                <a:rPr b="0" i="0" lang="en-AR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00911" y="1459499"/>
              <a:ext cx="2082961" cy="1249776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B3C6E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300911" y="1459499"/>
              <a:ext cx="2082961" cy="1249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AR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Permite guardar proyectos 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2592169" y="1459499"/>
              <a:ext cx="2082961" cy="1249776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B3C6E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"/>
            <p:cNvSpPr txBox="1"/>
            <p:nvPr/>
          </p:nvSpPr>
          <p:spPr>
            <a:xfrm>
              <a:off x="2592169" y="1459499"/>
              <a:ext cx="2082961" cy="1249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AR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Permite compartir contenido 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4883426" y="1459499"/>
              <a:ext cx="2082961" cy="1249776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B3C6E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"/>
            <p:cNvSpPr txBox="1"/>
            <p:nvPr/>
          </p:nvSpPr>
          <p:spPr>
            <a:xfrm>
              <a:off x="4883426" y="1459499"/>
              <a:ext cx="2082961" cy="1249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AR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Permite combinar código con texto</a:t>
              </a:r>
              <a:r>
                <a:rPr b="0" i="0" lang="en-AR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page1image12249456" id="115" name="Google Shape;11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37555" y="1702250"/>
            <a:ext cx="628998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"/>
          <p:cNvSpPr txBox="1"/>
          <p:nvPr/>
        </p:nvSpPr>
        <p:spPr>
          <a:xfrm>
            <a:off x="514748" y="4167175"/>
            <a:ext cx="213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AR" sz="2400" u="sng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VENTAJAS</a:t>
            </a:r>
            <a:endParaRPr b="0" i="1" sz="1400" u="sng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Conectado desconectado con relleno sólido" id="117" name="Google Shape;11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97883" y="5810588"/>
            <a:ext cx="54000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"/>
          <p:cNvSpPr txBox="1"/>
          <p:nvPr/>
        </p:nvSpPr>
        <p:spPr>
          <a:xfrm>
            <a:off x="9862982" y="6350593"/>
            <a:ext cx="220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AR" sz="1800" u="sng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MÁS INFORMACIÓN</a:t>
            </a:r>
            <a:endParaRPr b="0" i="0" sz="1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293915" y="6350599"/>
            <a:ext cx="858882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AR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https://colab.research.google.com/notebooks/welcome.ipynb?hl=es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9719537" y="3773119"/>
            <a:ext cx="2082900" cy="1249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B3C6E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9778162" y="3773119"/>
            <a:ext cx="2082900" cy="12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A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Integrado a Gemini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 txBox="1"/>
          <p:nvPr/>
        </p:nvSpPr>
        <p:spPr>
          <a:xfrm>
            <a:off x="2648876" y="3369000"/>
            <a:ext cx="3952500" cy="646500"/>
          </a:xfrm>
          <a:prstGeom prst="rect">
            <a:avLst/>
          </a:prstGeom>
          <a:solidFill>
            <a:srgbClr val="D8E2F3"/>
          </a:solidFill>
          <a:ln cap="flat" cmpd="sng" w="28575">
            <a:solidFill>
              <a:srgbClr val="B3C6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Bases de datos ofrecidas por google para </a:t>
            </a:r>
            <a:r>
              <a:rPr lang="en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3"/>
          <p:cNvCxnSpPr/>
          <p:nvPr/>
        </p:nvCxnSpPr>
        <p:spPr>
          <a:xfrm rot="10800000">
            <a:off x="2562900" y="1349700"/>
            <a:ext cx="1217100" cy="19038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28" name="Google Shape;128;p3"/>
          <p:cNvCxnSpPr/>
          <p:nvPr/>
        </p:nvCxnSpPr>
        <p:spPr>
          <a:xfrm>
            <a:off x="8059500" y="2160000"/>
            <a:ext cx="1363500" cy="3024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pic>
        <p:nvPicPr>
          <p:cNvPr id="129" name="Google Shape;129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00" y="108975"/>
            <a:ext cx="2314575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3"/>
          <p:cNvPicPr preferRelativeResize="0"/>
          <p:nvPr/>
        </p:nvPicPr>
        <p:blipFill rotWithShape="1">
          <a:blip r:embed="rId4">
            <a:alphaModFix/>
          </a:blip>
          <a:srcRect b="0" l="0" r="79370" t="0"/>
          <a:stretch/>
        </p:blipFill>
        <p:spPr>
          <a:xfrm>
            <a:off x="9526975" y="190525"/>
            <a:ext cx="2204525" cy="674772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"/>
          <p:cNvSpPr txBox="1"/>
          <p:nvPr/>
        </p:nvSpPr>
        <p:spPr>
          <a:xfrm>
            <a:off x="4960738" y="1438500"/>
            <a:ext cx="3952500" cy="646500"/>
          </a:xfrm>
          <a:prstGeom prst="rect">
            <a:avLst/>
          </a:prstGeom>
          <a:solidFill>
            <a:srgbClr val="D8E2F3"/>
          </a:solidFill>
          <a:ln cap="flat" cmpd="sng" w="28575">
            <a:solidFill>
              <a:srgbClr val="B3C6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</a:t>
            </a:r>
            <a:r>
              <a:rPr lang="en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sobre los datatypes y columnas del Data frame (DF)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Description automatically generated" id="136" name="Google Shape;136;p4"/>
          <p:cNvPicPr preferRelativeResize="0"/>
          <p:nvPr/>
        </p:nvPicPr>
        <p:blipFill rotWithShape="1">
          <a:blip r:embed="rId3">
            <a:alphaModFix/>
          </a:blip>
          <a:srcRect b="18765" l="0" r="0" t="0"/>
          <a:stretch/>
        </p:blipFill>
        <p:spPr>
          <a:xfrm>
            <a:off x="585439" y="2611769"/>
            <a:ext cx="11110124" cy="2642357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4"/>
          <p:cNvSpPr txBox="1"/>
          <p:nvPr/>
        </p:nvSpPr>
        <p:spPr>
          <a:xfrm>
            <a:off x="1369308" y="1684265"/>
            <a:ext cx="2691903" cy="400110"/>
          </a:xfrm>
          <a:prstGeom prst="rect">
            <a:avLst/>
          </a:prstGeom>
          <a:noFill/>
          <a:ln cap="flat" cmpd="sng" w="28575">
            <a:solidFill>
              <a:srgbClr val="B3C6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AR" sz="2000" u="none" cap="none" strike="noStrike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Nombre del archivo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" name="Google Shape;138;p4"/>
          <p:cNvCxnSpPr>
            <a:stCxn id="137" idx="2"/>
          </p:cNvCxnSpPr>
          <p:nvPr/>
        </p:nvCxnSpPr>
        <p:spPr>
          <a:xfrm flipH="1">
            <a:off x="2394860" y="2084375"/>
            <a:ext cx="320400" cy="527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9" name="Google Shape;139;p4"/>
          <p:cNvSpPr txBox="1"/>
          <p:nvPr/>
        </p:nvSpPr>
        <p:spPr>
          <a:xfrm>
            <a:off x="825325" y="5554647"/>
            <a:ext cx="2462100" cy="708000"/>
          </a:xfrm>
          <a:prstGeom prst="rect">
            <a:avLst/>
          </a:prstGeom>
          <a:noFill/>
          <a:ln cap="flat" cmpd="sng" w="28575">
            <a:solidFill>
              <a:srgbClr val="B3C6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AR" sz="2000" u="none" cap="none" strike="noStrike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Botón de ejecución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" name="Google Shape;140;p4"/>
          <p:cNvCxnSpPr>
            <a:stCxn id="139" idx="0"/>
          </p:cNvCxnSpPr>
          <p:nvPr/>
        </p:nvCxnSpPr>
        <p:spPr>
          <a:xfrm rot="10800000">
            <a:off x="1531375" y="4264947"/>
            <a:ext cx="525000" cy="12897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41" name="Google Shape;141;p4"/>
          <p:cNvSpPr txBox="1"/>
          <p:nvPr/>
        </p:nvSpPr>
        <p:spPr>
          <a:xfrm>
            <a:off x="4590275" y="5554647"/>
            <a:ext cx="2126100" cy="708000"/>
          </a:xfrm>
          <a:prstGeom prst="rect">
            <a:avLst/>
          </a:prstGeom>
          <a:noFill/>
          <a:ln cap="flat" cmpd="sng" w="28575">
            <a:solidFill>
              <a:srgbClr val="B3C6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AR" sz="2000" u="none" cap="none" strike="noStrike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Celda de código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" name="Google Shape;142;p4"/>
          <p:cNvCxnSpPr>
            <a:stCxn id="141" idx="0"/>
          </p:cNvCxnSpPr>
          <p:nvPr/>
        </p:nvCxnSpPr>
        <p:spPr>
          <a:xfrm flipH="1" rot="10800000">
            <a:off x="5653325" y="4121547"/>
            <a:ext cx="199200" cy="14331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43" name="Google Shape;143;p4"/>
          <p:cNvSpPr txBox="1"/>
          <p:nvPr/>
        </p:nvSpPr>
        <p:spPr>
          <a:xfrm>
            <a:off x="8310700" y="5554647"/>
            <a:ext cx="2847000" cy="708000"/>
          </a:xfrm>
          <a:prstGeom prst="rect">
            <a:avLst/>
          </a:prstGeom>
          <a:noFill/>
          <a:ln cap="flat" cmpd="sng" w="28575">
            <a:solidFill>
              <a:srgbClr val="B3C6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AR" sz="2000" u="none" cap="none" strike="noStrike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Barra de herramientas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144;p4"/>
          <p:cNvCxnSpPr/>
          <p:nvPr/>
        </p:nvCxnSpPr>
        <p:spPr>
          <a:xfrm rot="10800000">
            <a:off x="9775556" y="3921441"/>
            <a:ext cx="0" cy="1626888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45" name="Google Shape;145;p4"/>
          <p:cNvSpPr/>
          <p:nvPr/>
        </p:nvSpPr>
        <p:spPr>
          <a:xfrm>
            <a:off x="1092470" y="3242000"/>
            <a:ext cx="1639843" cy="411247"/>
          </a:xfrm>
          <a:prstGeom prst="frame">
            <a:avLst>
              <a:gd fmla="val 20795" name="adj1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5100700" y="1684282"/>
            <a:ext cx="5256000" cy="708000"/>
          </a:xfrm>
          <a:prstGeom prst="rect">
            <a:avLst/>
          </a:prstGeom>
          <a:noFill/>
          <a:ln cap="flat" cmpd="sng" w="28575">
            <a:solidFill>
              <a:srgbClr val="B3C6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AR" sz="2000" u="none" cap="none" strike="noStrike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Se pueden crear celdas de código y de texto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" name="Google Shape;147;p4"/>
          <p:cNvCxnSpPr>
            <a:stCxn id="146" idx="1"/>
            <a:endCxn id="145" idx="3"/>
          </p:cNvCxnSpPr>
          <p:nvPr/>
        </p:nvCxnSpPr>
        <p:spPr>
          <a:xfrm flipH="1">
            <a:off x="2732200" y="2038282"/>
            <a:ext cx="2368500" cy="1409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66264d3eb_1_21"/>
          <p:cNvSpPr txBox="1"/>
          <p:nvPr/>
        </p:nvSpPr>
        <p:spPr>
          <a:xfrm>
            <a:off x="543325" y="5457625"/>
            <a:ext cx="6189900" cy="400200"/>
          </a:xfrm>
          <a:prstGeom prst="rect">
            <a:avLst/>
          </a:prstGeom>
          <a:noFill/>
          <a:ln cap="flat" cmpd="sng" w="28575">
            <a:solidFill>
              <a:srgbClr val="B3C6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AR" sz="2000" u="none" cap="none" strike="noStrike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Configuracion a gusto de cada persona.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g3766264d3eb_1_21" title="Captura de pantalla 2025-08-16 17215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899" y="400747"/>
            <a:ext cx="4014225" cy="395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3766264d3eb_1_21" title="Captura de pantalla 2025-08-16 17220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7200" y="1024225"/>
            <a:ext cx="2905125" cy="239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" name="Google Shape;155;g3766264d3eb_1_21"/>
          <p:cNvCxnSpPr>
            <a:stCxn id="153" idx="2"/>
          </p:cNvCxnSpPr>
          <p:nvPr/>
        </p:nvCxnSpPr>
        <p:spPr>
          <a:xfrm>
            <a:off x="2891012" y="4360097"/>
            <a:ext cx="165300" cy="1113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56" name="Google Shape;156;g3766264d3eb_1_21"/>
          <p:cNvCxnSpPr>
            <a:endCxn id="157" idx="0"/>
          </p:cNvCxnSpPr>
          <p:nvPr/>
        </p:nvCxnSpPr>
        <p:spPr>
          <a:xfrm flipH="1">
            <a:off x="8730350" y="3415063"/>
            <a:ext cx="222600" cy="1235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7" name="Google Shape;157;g3766264d3eb_1_21"/>
          <p:cNvSpPr txBox="1"/>
          <p:nvPr/>
        </p:nvSpPr>
        <p:spPr>
          <a:xfrm>
            <a:off x="5635400" y="4650463"/>
            <a:ext cx="6189900" cy="708000"/>
          </a:xfrm>
          <a:prstGeom prst="rect">
            <a:avLst/>
          </a:prstGeom>
          <a:noFill/>
          <a:ln cap="flat" cmpd="sng" w="28575">
            <a:solidFill>
              <a:srgbClr val="B3C6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AR" sz="2000" u="none" cap="none" strike="noStrike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Ajuste de recursos segun el proyecto, y status de uso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g3646b23f07e_1_22" title="Captura de pantalla 2025-08-16 172027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663" y="180607"/>
            <a:ext cx="390525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3646b23f07e_1_22"/>
          <p:cNvSpPr txBox="1"/>
          <p:nvPr/>
        </p:nvSpPr>
        <p:spPr>
          <a:xfrm>
            <a:off x="4475875" y="5860475"/>
            <a:ext cx="6189900" cy="1015800"/>
          </a:xfrm>
          <a:prstGeom prst="rect">
            <a:avLst/>
          </a:prstGeom>
          <a:noFill/>
          <a:ln cap="flat" cmpd="sng" w="28575">
            <a:solidFill>
              <a:srgbClr val="B3C6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AR" sz="2000" u="none" cap="none" strike="noStrike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Ram memoria momentanea, por cantidad de procesos ejecutados en un momento dado, disco almacenamiento total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646b23f07e_1_22"/>
          <p:cNvSpPr txBox="1"/>
          <p:nvPr/>
        </p:nvSpPr>
        <p:spPr>
          <a:xfrm>
            <a:off x="3239630" y="588748"/>
            <a:ext cx="1073400" cy="307800"/>
          </a:xfrm>
          <a:prstGeom prst="rect">
            <a:avLst/>
          </a:prstGeom>
          <a:noFill/>
          <a:ln cap="flat" cmpd="sng" w="28575">
            <a:solidFill>
              <a:srgbClr val="B3C6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" name="Google Shape;165;g3646b23f07e_1_22"/>
          <p:cNvCxnSpPr>
            <a:stCxn id="166" idx="2"/>
          </p:cNvCxnSpPr>
          <p:nvPr/>
        </p:nvCxnSpPr>
        <p:spPr>
          <a:xfrm rot="10800000">
            <a:off x="3415251" y="5126533"/>
            <a:ext cx="649500" cy="684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67" name="Google Shape;167;g3646b23f07e_1_22"/>
          <p:cNvSpPr txBox="1"/>
          <p:nvPr/>
        </p:nvSpPr>
        <p:spPr>
          <a:xfrm>
            <a:off x="7792750" y="188550"/>
            <a:ext cx="3701100" cy="708000"/>
          </a:xfrm>
          <a:prstGeom prst="rect">
            <a:avLst/>
          </a:prstGeom>
          <a:noFill/>
          <a:ln cap="flat" cmpd="sng" w="28575">
            <a:solidFill>
              <a:srgbClr val="B3C6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AR" sz="2000" u="none" cap="none" strike="noStrike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Cantidad de recursos utilizados, Hardware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" name="Google Shape;168;g3646b23f07e_1_22"/>
          <p:cNvCxnSpPr/>
          <p:nvPr/>
        </p:nvCxnSpPr>
        <p:spPr>
          <a:xfrm rot="10800000">
            <a:off x="4715675" y="696001"/>
            <a:ext cx="30387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pic>
        <p:nvPicPr>
          <p:cNvPr id="166" name="Google Shape;166;g3646b23f07e_1_22" title="Captura de pantalla 2025-08-16 17212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5088" y="1809781"/>
            <a:ext cx="6779326" cy="4001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3646b23f07e_1_22" title="Captura de pantalla 2025-08-16 172219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46850" y="1943897"/>
            <a:ext cx="2847000" cy="2290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0" name="Google Shape;170;g3646b23f07e_1_22"/>
          <p:cNvCxnSpPr/>
          <p:nvPr/>
        </p:nvCxnSpPr>
        <p:spPr>
          <a:xfrm>
            <a:off x="3574450" y="955975"/>
            <a:ext cx="19200" cy="8538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71" name="Google Shape;171;g3646b23f07e_1_22"/>
          <p:cNvSpPr/>
          <p:nvPr/>
        </p:nvSpPr>
        <p:spPr>
          <a:xfrm>
            <a:off x="719375" y="4533625"/>
            <a:ext cx="2847000" cy="1246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g3646b23f07e_1_22"/>
          <p:cNvCxnSpPr/>
          <p:nvPr/>
        </p:nvCxnSpPr>
        <p:spPr>
          <a:xfrm rot="10800000">
            <a:off x="3717350" y="5500925"/>
            <a:ext cx="694800" cy="6537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766264d3eb_1_5"/>
          <p:cNvSpPr txBox="1"/>
          <p:nvPr/>
        </p:nvSpPr>
        <p:spPr>
          <a:xfrm>
            <a:off x="2308175" y="3078900"/>
            <a:ext cx="6189900" cy="1323600"/>
          </a:xfrm>
          <a:prstGeom prst="rect">
            <a:avLst/>
          </a:prstGeom>
          <a:noFill/>
          <a:ln cap="flat" cmpd="sng" w="28575">
            <a:solidFill>
              <a:srgbClr val="B3C6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AR" sz="2000" u="none" cap="none" strike="noStrike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Tenemos opciones como GPU ideal para entrenamiento de IA, imágenes y cálculos matemáticos. Ideal para mucho procesamiento en paralelo. Y por ultimo TPU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766264d3eb_1_5"/>
          <p:cNvSpPr txBox="1"/>
          <p:nvPr/>
        </p:nvSpPr>
        <p:spPr>
          <a:xfrm>
            <a:off x="7207650" y="581800"/>
            <a:ext cx="3701100" cy="1939500"/>
          </a:xfrm>
          <a:prstGeom prst="rect">
            <a:avLst/>
          </a:prstGeom>
          <a:noFill/>
          <a:ln cap="flat" cmpd="sng" w="28575">
            <a:solidFill>
              <a:srgbClr val="B3C6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AR" sz="2000" u="none" cap="none" strike="noStrike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En cuanto al procesamiento podemos utilizar procesamiento de CPU (Default), es decir de un microprocesador. Tareas secuenciales y complejas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" name="Google Shape;179;g3766264d3eb_1_5"/>
          <p:cNvCxnSpPr/>
          <p:nvPr/>
        </p:nvCxnSpPr>
        <p:spPr>
          <a:xfrm rot="10800000">
            <a:off x="4121000" y="983751"/>
            <a:ext cx="30387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pic>
        <p:nvPicPr>
          <p:cNvPr id="180" name="Google Shape;180;g3766264d3eb_1_5" title="Captura de pantalla 2025-08-16 17221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4000" y="231022"/>
            <a:ext cx="2847000" cy="2290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g3766264d3eb_1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9650" y="4545325"/>
            <a:ext cx="6343844" cy="2150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2" name="Google Shape;182;g3766264d3eb_1_5"/>
          <p:cNvCxnSpPr/>
          <p:nvPr/>
        </p:nvCxnSpPr>
        <p:spPr>
          <a:xfrm>
            <a:off x="3574475" y="2557750"/>
            <a:ext cx="105600" cy="4893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83" name="Google Shape;183;g3766264d3eb_1_5"/>
          <p:cNvCxnSpPr/>
          <p:nvPr/>
        </p:nvCxnSpPr>
        <p:spPr>
          <a:xfrm>
            <a:off x="4331150" y="4402500"/>
            <a:ext cx="260100" cy="6012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grey striped background&#10;&#10;Description automatically generated" id="188" name="Google Shape;188;p5"/>
          <p:cNvPicPr preferRelativeResize="0"/>
          <p:nvPr/>
        </p:nvPicPr>
        <p:blipFill rotWithShape="1">
          <a:blip r:embed="rId3">
            <a:alphaModFix/>
          </a:blip>
          <a:srcRect b="0" l="0" r="57073" t="0"/>
          <a:stretch/>
        </p:blipFill>
        <p:spPr>
          <a:xfrm>
            <a:off x="1552800" y="1130837"/>
            <a:ext cx="3125962" cy="23298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and white text&#10;&#10;Description automatically generated with medium confidence" id="189" name="Google Shape;189;p5"/>
          <p:cNvPicPr preferRelativeResize="0"/>
          <p:nvPr/>
        </p:nvPicPr>
        <p:blipFill rotWithShape="1">
          <a:blip r:embed="rId4">
            <a:alphaModFix/>
          </a:blip>
          <a:srcRect b="0" l="0" r="31296" t="0"/>
          <a:stretch/>
        </p:blipFill>
        <p:spPr>
          <a:xfrm>
            <a:off x="556334" y="3931025"/>
            <a:ext cx="5339954" cy="15961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0" name="Google Shape;190;p5"/>
          <p:cNvGrpSpPr/>
          <p:nvPr/>
        </p:nvGrpSpPr>
        <p:grpSpPr>
          <a:xfrm>
            <a:off x="4245428" y="1431000"/>
            <a:ext cx="7207671" cy="3939540"/>
            <a:chOff x="4136571" y="1140469"/>
            <a:chExt cx="7207671" cy="3939540"/>
          </a:xfrm>
        </p:grpSpPr>
        <p:sp>
          <p:nvSpPr>
            <p:cNvPr id="191" name="Google Shape;191;p5"/>
            <p:cNvSpPr/>
            <p:nvPr/>
          </p:nvSpPr>
          <p:spPr>
            <a:xfrm>
              <a:off x="7168242" y="1140469"/>
              <a:ext cx="4176000" cy="393954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  <a:path extrusionOk="0" fill="none" h="120000" w="120000">
                  <a:moveTo>
                    <a:pt x="-4253" y="0"/>
                  </a:moveTo>
                  <a:close/>
                </a:path>
                <a:path extrusionOk="0" fill="none" h="120000" w="120000">
                  <a:moveTo>
                    <a:pt x="-4253" y="45160"/>
                  </a:moveTo>
                  <a:lnTo>
                    <a:pt x="-13602" y="45128"/>
                  </a:lnTo>
                  <a:lnTo>
                    <a:pt x="-46561" y="102731"/>
                  </a:lnTo>
                </a:path>
              </a:pathLst>
            </a:custGeom>
            <a:solidFill>
              <a:srgbClr val="DCE5F4"/>
            </a:solidFill>
            <a:ln cap="flat" cmpd="sng" w="28575">
              <a:solidFill>
                <a:srgbClr val="B3C6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F5496"/>
                </a:buClr>
                <a:buSzPts val="2000"/>
                <a:buFont typeface="Noto Sans Symbols"/>
                <a:buChar char="✷"/>
              </a:pPr>
              <a:r>
                <a:rPr b="0" i="0" lang="en-AR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 pueden escribir celdas de textos o celdas de código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342900" marR="0" rtl="0" algn="just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2F5496"/>
                </a:buClr>
                <a:buSzPts val="2000"/>
                <a:buFont typeface="Noto Sans Symbols"/>
                <a:buChar char="✷"/>
              </a:pPr>
              <a:r>
                <a:rPr b="0" i="0" lang="en-AR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El código se puede escribir en una o varias celdas.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342900" marR="0" rtl="0" algn="just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2F5496"/>
                </a:buClr>
                <a:buSzPts val="2000"/>
                <a:buFont typeface="Noto Sans Symbols"/>
                <a:buChar char="✷"/>
              </a:pPr>
              <a:r>
                <a:rPr b="0" i="0" lang="en-AR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Luego de ejecutar la misma las variables y funciones que  creamos quedan disponibles en la notebook.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342900" marR="0" rtl="0" algn="just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2F5496"/>
                </a:buClr>
                <a:buSzPts val="2000"/>
                <a:buFont typeface="Noto Sans Symbols"/>
                <a:buChar char="✷"/>
              </a:pPr>
              <a:r>
                <a:rPr b="0" i="0" lang="en-AR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La salida de cada ejecución se muestra a continuación de la celda de código.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2" name="Google Shape;192;p5"/>
            <p:cNvCxnSpPr/>
            <p:nvPr/>
          </p:nvCxnSpPr>
          <p:spPr>
            <a:xfrm rot="10800000">
              <a:off x="4136571" y="1872343"/>
              <a:ext cx="2587172" cy="764101"/>
            </a:xfrm>
            <a:prstGeom prst="straightConnector1">
              <a:avLst/>
            </a:prstGeom>
            <a:noFill/>
            <a:ln cap="flat" cmpd="sng" w="28575">
              <a:solidFill>
                <a:srgbClr val="B3C6E7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oogle Shape;197;p6"/>
          <p:cNvGrpSpPr/>
          <p:nvPr/>
        </p:nvGrpSpPr>
        <p:grpSpPr>
          <a:xfrm>
            <a:off x="981075" y="647667"/>
            <a:ext cx="10077450" cy="2041537"/>
            <a:chOff x="0" y="9492"/>
            <a:chExt cx="10077450" cy="2041537"/>
          </a:xfrm>
        </p:grpSpPr>
        <p:sp>
          <p:nvSpPr>
            <p:cNvPr id="198" name="Google Shape;198;p6"/>
            <p:cNvSpPr/>
            <p:nvPr/>
          </p:nvSpPr>
          <p:spPr>
            <a:xfrm>
              <a:off x="0" y="9492"/>
              <a:ext cx="10077450" cy="861555"/>
            </a:xfrm>
            <a:prstGeom prst="roundRect">
              <a:avLst>
                <a:gd fmla="val 16667" name="adj"/>
              </a:avLst>
            </a:prstGeom>
            <a:solidFill>
              <a:srgbClr val="D8E2F3"/>
            </a:solidFill>
            <a:ln cap="flat" cmpd="sng" w="28575">
              <a:solidFill>
                <a:srgbClr val="B3C6E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6"/>
            <p:cNvSpPr txBox="1"/>
            <p:nvPr/>
          </p:nvSpPr>
          <p:spPr>
            <a:xfrm>
              <a:off x="42058" y="51550"/>
              <a:ext cx="9993334" cy="7774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AR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 las celdas de texto se puede agregar explicaciones, imágenes que complementan el desarrollo de la notebook.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0" y="923200"/>
              <a:ext cx="10077450" cy="622575"/>
            </a:xfrm>
            <a:prstGeom prst="roundRect">
              <a:avLst>
                <a:gd fmla="val 16667" name="adj"/>
              </a:avLst>
            </a:prstGeom>
            <a:solidFill>
              <a:srgbClr val="D8E2F3"/>
            </a:solidFill>
            <a:ln cap="flat" cmpd="sng" w="28575">
              <a:solidFill>
                <a:srgbClr val="B3C6E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6"/>
            <p:cNvSpPr txBox="1"/>
            <p:nvPr/>
          </p:nvSpPr>
          <p:spPr>
            <a:xfrm>
              <a:off x="30392" y="953592"/>
              <a:ext cx="10016666" cy="5617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AR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También se pueden escribir fórmulas utilizando LaTeX.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6"/>
            <p:cNvSpPr/>
            <p:nvPr/>
          </p:nvSpPr>
          <p:spPr>
            <a:xfrm>
              <a:off x="0" y="1615936"/>
              <a:ext cx="10077450" cy="435093"/>
            </a:xfrm>
            <a:prstGeom prst="roundRect">
              <a:avLst>
                <a:gd fmla="val 16667" name="adj"/>
              </a:avLst>
            </a:prstGeom>
            <a:solidFill>
              <a:srgbClr val="D8E2F3"/>
            </a:solidFill>
            <a:ln cap="flat" cmpd="sng" w="28575">
              <a:solidFill>
                <a:srgbClr val="B3C6E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6"/>
            <p:cNvSpPr txBox="1"/>
            <p:nvPr/>
          </p:nvSpPr>
          <p:spPr>
            <a:xfrm>
              <a:off x="21239" y="1637175"/>
              <a:ext cx="10034972" cy="3926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AR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 medida que escribimos, en el panel derecho se visualiza como será mostrado.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A screenshot of a black box&#10;&#10;Description automatically generated" id="204" name="Google Shape;20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3738" y="2792211"/>
            <a:ext cx="7772400" cy="12735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05" name="Google Shape;20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63738" y="4183598"/>
            <a:ext cx="7772400" cy="1925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Description automatically generated" id="210" name="Google Shape;21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8761" y="3476030"/>
            <a:ext cx="4203700" cy="257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11" name="Google Shape;21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8296" y="1218627"/>
            <a:ext cx="4203700" cy="2578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2" name="Google Shape;212;p7"/>
          <p:cNvGrpSpPr/>
          <p:nvPr/>
        </p:nvGrpSpPr>
        <p:grpSpPr>
          <a:xfrm>
            <a:off x="6305369" y="1604118"/>
            <a:ext cx="4203700" cy="1292850"/>
            <a:chOff x="0" y="78456"/>
            <a:chExt cx="4203700" cy="1292850"/>
          </a:xfrm>
        </p:grpSpPr>
        <p:sp>
          <p:nvSpPr>
            <p:cNvPr id="213" name="Google Shape;213;p7"/>
            <p:cNvSpPr/>
            <p:nvPr/>
          </p:nvSpPr>
          <p:spPr>
            <a:xfrm>
              <a:off x="0" y="78456"/>
              <a:ext cx="4203700" cy="1292850"/>
            </a:xfrm>
            <a:prstGeom prst="roundRect">
              <a:avLst>
                <a:gd fmla="val 16667" name="adj"/>
              </a:avLst>
            </a:prstGeom>
            <a:solidFill>
              <a:srgbClr val="D8E2F3"/>
            </a:solidFill>
            <a:ln cap="flat" cmpd="sng" w="28575">
              <a:solidFill>
                <a:srgbClr val="B3C6E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7"/>
            <p:cNvSpPr txBox="1"/>
            <p:nvPr/>
          </p:nvSpPr>
          <p:spPr>
            <a:xfrm>
              <a:off x="63112" y="141568"/>
              <a:ext cx="4077476" cy="11666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AR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Aquí podemos ver el enviroment con las variables que vamos creando, ojo si lo dejamos abierto puede disminuir el rendimiento.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5" name="Google Shape;215;p7"/>
          <p:cNvGrpSpPr/>
          <p:nvPr/>
        </p:nvGrpSpPr>
        <p:grpSpPr>
          <a:xfrm>
            <a:off x="1435101" y="3887916"/>
            <a:ext cx="4490244" cy="2115957"/>
            <a:chOff x="0" y="0"/>
            <a:chExt cx="4490244" cy="2115957"/>
          </a:xfrm>
        </p:grpSpPr>
        <p:sp>
          <p:nvSpPr>
            <p:cNvPr id="216" name="Google Shape;216;p7"/>
            <p:cNvSpPr/>
            <p:nvPr/>
          </p:nvSpPr>
          <p:spPr>
            <a:xfrm>
              <a:off x="0" y="0"/>
              <a:ext cx="4490244" cy="1006931"/>
            </a:xfrm>
            <a:prstGeom prst="roundRect">
              <a:avLst>
                <a:gd fmla="val 16667" name="adj"/>
              </a:avLst>
            </a:prstGeom>
            <a:solidFill>
              <a:srgbClr val="D8E2F3"/>
            </a:solidFill>
            <a:ln cap="flat" cmpd="sng" w="28575">
              <a:solidFill>
                <a:srgbClr val="B3C6E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7"/>
            <p:cNvSpPr txBox="1"/>
            <p:nvPr/>
          </p:nvSpPr>
          <p:spPr>
            <a:xfrm>
              <a:off x="49154" y="49154"/>
              <a:ext cx="4391936" cy="908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AR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Aquí vemos los archivos, se pueden subir cada vez desde la computadora,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7"/>
            <p:cNvSpPr/>
            <p:nvPr/>
          </p:nvSpPr>
          <p:spPr>
            <a:xfrm>
              <a:off x="0" y="1109026"/>
              <a:ext cx="4490244" cy="1006931"/>
            </a:xfrm>
            <a:prstGeom prst="roundRect">
              <a:avLst>
                <a:gd fmla="val 16667" name="adj"/>
              </a:avLst>
            </a:prstGeom>
            <a:solidFill>
              <a:srgbClr val="D8E2F3"/>
            </a:solidFill>
            <a:ln cap="flat" cmpd="sng" w="28575">
              <a:solidFill>
                <a:srgbClr val="B3C6E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7"/>
            <p:cNvSpPr txBox="1"/>
            <p:nvPr/>
          </p:nvSpPr>
          <p:spPr>
            <a:xfrm>
              <a:off x="49154" y="1158180"/>
              <a:ext cx="4391936" cy="908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AR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 también se puede optar por conectar al Drive personal y disponer de todos los archivos.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20" name="Google Shape;220;p7"/>
          <p:cNvCxnSpPr/>
          <p:nvPr/>
        </p:nvCxnSpPr>
        <p:spPr>
          <a:xfrm flipH="1" rot="10800000">
            <a:off x="5925345" y="4175584"/>
            <a:ext cx="1204510" cy="306025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21" name="Google Shape;221;p7"/>
          <p:cNvSpPr/>
          <p:nvPr/>
        </p:nvSpPr>
        <p:spPr>
          <a:xfrm>
            <a:off x="7129855" y="3941358"/>
            <a:ext cx="637382" cy="439133"/>
          </a:xfrm>
          <a:prstGeom prst="frame">
            <a:avLst>
              <a:gd fmla="val 3125" name="adj1"/>
            </a:avLst>
          </a:prstGeom>
          <a:solidFill>
            <a:srgbClr val="B3C6E7"/>
          </a:solidFill>
          <a:ln cap="flat" cmpd="sng" w="28575">
            <a:solidFill>
              <a:srgbClr val="B3C6E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8282387" y="3990089"/>
            <a:ext cx="637382" cy="390396"/>
          </a:xfrm>
          <a:prstGeom prst="frame">
            <a:avLst>
              <a:gd fmla="val 3125" name="adj1"/>
            </a:avLst>
          </a:prstGeom>
          <a:solidFill>
            <a:srgbClr val="B3C6E7"/>
          </a:solidFill>
          <a:ln cap="flat" cmpd="sng" w="28575">
            <a:solidFill>
              <a:srgbClr val="B3C6E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" name="Google Shape;223;p7"/>
          <p:cNvCxnSpPr/>
          <p:nvPr/>
        </p:nvCxnSpPr>
        <p:spPr>
          <a:xfrm flipH="1" rot="10800000">
            <a:off x="5925345" y="4380491"/>
            <a:ext cx="2357042" cy="1153534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Description automatically generated" id="228" name="Google Shape;228;p8"/>
          <p:cNvPicPr preferRelativeResize="0"/>
          <p:nvPr/>
        </p:nvPicPr>
        <p:blipFill rotWithShape="1">
          <a:blip r:embed="rId3">
            <a:alphaModFix/>
          </a:blip>
          <a:srcRect b="33845" l="0" r="0" t="0"/>
          <a:stretch/>
        </p:blipFill>
        <p:spPr>
          <a:xfrm>
            <a:off x="5765647" y="1798644"/>
            <a:ext cx="5112000" cy="16262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29" name="Google Shape;229;p8"/>
          <p:cNvPicPr preferRelativeResize="0"/>
          <p:nvPr/>
        </p:nvPicPr>
        <p:blipFill rotWithShape="1">
          <a:blip r:embed="rId4">
            <a:alphaModFix/>
          </a:blip>
          <a:srcRect b="34228" l="0" r="0" t="0"/>
          <a:stretch/>
        </p:blipFill>
        <p:spPr>
          <a:xfrm>
            <a:off x="5765648" y="4318008"/>
            <a:ext cx="5112000" cy="16168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30" name="Google Shape;230;p8"/>
          <p:cNvPicPr preferRelativeResize="0"/>
          <p:nvPr/>
        </p:nvPicPr>
        <p:blipFill rotWithShape="1">
          <a:blip r:embed="rId5">
            <a:alphaModFix/>
          </a:blip>
          <a:srcRect b="0" l="13211" r="0" t="0"/>
          <a:stretch/>
        </p:blipFill>
        <p:spPr>
          <a:xfrm>
            <a:off x="1143006" y="785289"/>
            <a:ext cx="3390111" cy="5160424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8"/>
          <p:cNvSpPr txBox="1"/>
          <p:nvPr/>
        </p:nvSpPr>
        <p:spPr>
          <a:xfrm>
            <a:off x="5765647" y="756796"/>
            <a:ext cx="5112000" cy="923330"/>
          </a:xfrm>
          <a:prstGeom prst="rect">
            <a:avLst/>
          </a:prstGeom>
          <a:solidFill>
            <a:srgbClr val="D8E2F3"/>
          </a:solidFill>
          <a:ln cap="flat" cmpd="sng" w="28575">
            <a:solidFill>
              <a:srgbClr val="B3C6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tenemos una notebook creada, tener en cuenta que son archivos de extensión .ipynb, se puede abrir de esta  manera.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1303741" y="2190951"/>
            <a:ext cx="953689" cy="318490"/>
          </a:xfrm>
          <a:prstGeom prst="frame">
            <a:avLst>
              <a:gd fmla="val 3125" name="adj1"/>
            </a:avLst>
          </a:prstGeom>
          <a:solidFill>
            <a:srgbClr val="B3C6E7"/>
          </a:solidFill>
          <a:ln cap="flat" cmpd="sng" w="28575">
            <a:solidFill>
              <a:srgbClr val="B3C6E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" name="Google Shape;233;p8"/>
          <p:cNvCxnSpPr/>
          <p:nvPr/>
        </p:nvCxnSpPr>
        <p:spPr>
          <a:xfrm>
            <a:off x="2257430" y="2509441"/>
            <a:ext cx="3705220" cy="167084"/>
          </a:xfrm>
          <a:prstGeom prst="straightConnector1">
            <a:avLst/>
          </a:prstGeom>
          <a:noFill/>
          <a:ln cap="flat" cmpd="sng" w="28575">
            <a:solidFill>
              <a:srgbClr val="8DA9DB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34" name="Google Shape;234;p8"/>
          <p:cNvSpPr txBox="1"/>
          <p:nvPr/>
        </p:nvSpPr>
        <p:spPr>
          <a:xfrm>
            <a:off x="5765648" y="3757121"/>
            <a:ext cx="5112000" cy="369332"/>
          </a:xfrm>
          <a:prstGeom prst="rect">
            <a:avLst/>
          </a:prstGeom>
          <a:solidFill>
            <a:srgbClr val="D8E2F3"/>
          </a:solidFill>
          <a:ln cap="flat" cmpd="sng" w="28575">
            <a:solidFill>
              <a:srgbClr val="B3C6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También podemos buscar en el drive personal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2013 - Tema de 2022">
  <a:themeElements>
    <a:clrScheme name="Office 2013 - Tema de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2020-07-06T22:02:43Z</dcterms:created>
  <dc:creator>Fernando Martínez</dc:creator>
</cp:coreProperties>
</file>