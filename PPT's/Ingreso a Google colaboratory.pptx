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SMlCTX+lpFKlZvwzZZCN8rU2b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766264d3eb_1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766264d3eb_1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646b23f07e_1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646b23f07e_1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766264d3eb_1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766264d3eb_1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hyperlink" Target="https://colab.research.google.com/notebooks/welcome.ipynb?hl=es" TargetMode="External"/><Relationship Id="rId6" Type="http://schemas.openxmlformats.org/officeDocument/2006/relationships/hyperlink" Target="https://colab.research.google.com/notebooks/welcome.ipynb?hl=es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1683291" y="2678532"/>
            <a:ext cx="8543925" cy="1286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lang="en-AR" sz="3600" u="sng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Laboratorio de M</a:t>
            </a:r>
            <a:r>
              <a:rPr b="1" lang="en-AR" sz="3600" u="sng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étodos</a:t>
            </a:r>
            <a:r>
              <a:rPr b="1" lang="en-AR" sz="3600" u="sng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Cuantitativos</a:t>
            </a:r>
            <a:endParaRPr sz="3600" u="sng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3454012" y="4291288"/>
            <a:ext cx="5002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AR" sz="23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Ambiente de trabajo en Google Colaboratory</a:t>
            </a:r>
            <a:endParaRPr sz="17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91" name="Google Shape;91;p1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2375" y="67650"/>
            <a:ext cx="7687239" cy="2373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2"/>
          <p:cNvGrpSpPr/>
          <p:nvPr/>
        </p:nvGrpSpPr>
        <p:grpSpPr>
          <a:xfrm>
            <a:off x="3675970" y="1794223"/>
            <a:ext cx="4796032" cy="1339009"/>
            <a:chOff x="3675970" y="1922775"/>
            <a:chExt cx="4796032" cy="1339009"/>
          </a:xfrm>
        </p:grpSpPr>
        <p:sp>
          <p:nvSpPr>
            <p:cNvPr id="97" name="Google Shape;97;p2"/>
            <p:cNvSpPr/>
            <p:nvPr/>
          </p:nvSpPr>
          <p:spPr>
            <a:xfrm>
              <a:off x="3726625" y="1922775"/>
              <a:ext cx="1100356" cy="972000"/>
            </a:xfrm>
            <a:prstGeom prst="upArrowCallout">
              <a:avLst>
                <a:gd fmla="val 25000" name="adj1"/>
                <a:gd fmla="val 25000" name="adj2"/>
                <a:gd fmla="val 17509" name="adj3"/>
                <a:gd fmla="val 63907" name="adj4"/>
              </a:avLst>
            </a:prstGeom>
            <a:solidFill>
              <a:srgbClr val="B3C6E7"/>
            </a:solidFill>
            <a:ln cap="flat" cmpd="sng" w="28575">
              <a:solidFill>
                <a:srgbClr val="B3C6E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7365021" y="1922775"/>
              <a:ext cx="1100356" cy="972000"/>
            </a:xfrm>
            <a:prstGeom prst="upArrowCallout">
              <a:avLst>
                <a:gd fmla="val 25000" name="adj1"/>
                <a:gd fmla="val 25000" name="adj2"/>
                <a:gd fmla="val 17509" name="adj3"/>
                <a:gd fmla="val 63907" name="adj4"/>
              </a:avLst>
            </a:prstGeom>
            <a:solidFill>
              <a:srgbClr val="B3C6E7"/>
            </a:solidFill>
            <a:ln cap="flat" cmpd="sng" w="28575">
              <a:solidFill>
                <a:srgbClr val="B3C6E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3675970" y="2253784"/>
              <a:ext cx="4796032" cy="1008000"/>
            </a:xfrm>
            <a:prstGeom prst="downArrowCallout">
              <a:avLst>
                <a:gd fmla="val 25000" name="adj1"/>
                <a:gd fmla="val 25000" name="adj2"/>
                <a:gd fmla="val 25000" name="adj3"/>
                <a:gd fmla="val 64977" name="adj4"/>
              </a:avLst>
            </a:prstGeom>
            <a:gradFill>
              <a:gsLst>
                <a:gs pos="0">
                  <a:srgbClr val="F5F7FC"/>
                </a:gs>
                <a:gs pos="74000">
                  <a:srgbClr val="A9BEE4"/>
                </a:gs>
                <a:gs pos="83000">
                  <a:srgbClr val="A9BEE4"/>
                </a:gs>
                <a:gs pos="100000">
                  <a:srgbClr val="C5D3ED"/>
                </a:gs>
              </a:gsLst>
              <a:lin ang="5400000" scaled="0"/>
            </a:gradFill>
            <a:ln cap="flat" cmpd="sng" w="28575">
              <a:solidFill>
                <a:srgbClr val="B3C6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R" sz="3200">
                  <a:solidFill>
                    <a:srgbClr val="1E4E79"/>
                  </a:solidFill>
                  <a:latin typeface="Arial"/>
                  <a:ea typeface="Arial"/>
                  <a:cs typeface="Arial"/>
                  <a:sym typeface="Arial"/>
                </a:rPr>
                <a:t>Google Colaboratory </a:t>
              </a:r>
              <a:endParaRPr/>
            </a:p>
          </p:txBody>
        </p:sp>
      </p:grpSp>
      <p:sp>
        <p:nvSpPr>
          <p:cNvPr id="100" name="Google Shape;100;p2"/>
          <p:cNvSpPr/>
          <p:nvPr/>
        </p:nvSpPr>
        <p:spPr>
          <a:xfrm>
            <a:off x="697550" y="347399"/>
            <a:ext cx="5040000" cy="1412400"/>
          </a:xfrm>
          <a:prstGeom prst="roundRect">
            <a:avLst>
              <a:gd fmla="val 16667" name="adj"/>
            </a:avLst>
          </a:prstGeom>
          <a:solidFill>
            <a:srgbClr val="D8E2F3"/>
          </a:solidFill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A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 entorno gratuito de Jupyter Notebook que permite programar y ejecutar un código de Python en el navegador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6461250" y="353150"/>
            <a:ext cx="5040000" cy="1412400"/>
          </a:xfrm>
          <a:prstGeom prst="roundRect">
            <a:avLst>
              <a:gd fmla="val 16667" name="adj"/>
            </a:avLst>
          </a:prstGeom>
          <a:solidFill>
            <a:srgbClr val="D8E2F3"/>
          </a:solidFill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A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adecuado para tareas de aprendizaje automático y análisis de datos, entre otras utilidades</a:t>
            </a:r>
            <a:endParaRPr/>
          </a:p>
        </p:txBody>
      </p:sp>
      <p:grpSp>
        <p:nvGrpSpPr>
          <p:cNvPr id="102" name="Google Shape;102;p2"/>
          <p:cNvGrpSpPr/>
          <p:nvPr/>
        </p:nvGrpSpPr>
        <p:grpSpPr>
          <a:xfrm>
            <a:off x="2741247" y="3167644"/>
            <a:ext cx="6665476" cy="2707849"/>
            <a:chOff x="300911" y="1426"/>
            <a:chExt cx="6665476" cy="2707849"/>
          </a:xfrm>
        </p:grpSpPr>
        <p:sp>
          <p:nvSpPr>
            <p:cNvPr id="103" name="Google Shape;103;p2"/>
            <p:cNvSpPr/>
            <p:nvPr/>
          </p:nvSpPr>
          <p:spPr>
            <a:xfrm>
              <a:off x="300911" y="1426"/>
              <a:ext cx="2082961" cy="1249776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B3C6E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300911" y="1426"/>
              <a:ext cx="2082961" cy="1249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AR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No requiere de configuración</a:t>
              </a:r>
              <a:r>
                <a:rPr lang="en-AR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2592169" y="1426"/>
              <a:ext cx="2082961" cy="1249776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B3C6E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2592169" y="1426"/>
              <a:ext cx="2082961" cy="1249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AR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Acceso a procesadores gratuitos en la nube de Google</a:t>
              </a:r>
              <a:r>
                <a:rPr lang="en-AR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883426" y="1426"/>
              <a:ext cx="2082961" cy="1249776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B3C6E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4883426" y="1426"/>
              <a:ext cx="2082961" cy="1249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AR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Conectado a Google Drive personal</a:t>
              </a:r>
              <a:r>
                <a:rPr lang="en-AR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00911" y="1459499"/>
              <a:ext cx="2082961" cy="1249776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B3C6E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300911" y="1459499"/>
              <a:ext cx="2082961" cy="1249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AR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Permite guardar proyectos 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2592169" y="1459499"/>
              <a:ext cx="2082961" cy="1249776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B3C6E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2"/>
            <p:cNvSpPr txBox="1"/>
            <p:nvPr/>
          </p:nvSpPr>
          <p:spPr>
            <a:xfrm>
              <a:off x="2592169" y="1459499"/>
              <a:ext cx="2082961" cy="1249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AR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Permite compartir contenido 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4883426" y="1459499"/>
              <a:ext cx="2082961" cy="1249776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B3C6E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4883426" y="1459499"/>
              <a:ext cx="2082961" cy="1249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AR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Permite combinar código con texto</a:t>
              </a:r>
              <a:r>
                <a:rPr lang="en-AR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  </a:t>
              </a:r>
              <a:endParaRPr/>
            </a:p>
          </p:txBody>
        </p:sp>
      </p:grpSp>
      <p:pic>
        <p:nvPicPr>
          <p:cNvPr descr="page1image12249456" id="115" name="Google Shape;11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7555" y="1702250"/>
            <a:ext cx="628998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"/>
          <p:cNvSpPr txBox="1"/>
          <p:nvPr/>
        </p:nvSpPr>
        <p:spPr>
          <a:xfrm>
            <a:off x="514748" y="4167175"/>
            <a:ext cx="213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AR" sz="2400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VENTAJAS</a:t>
            </a:r>
            <a:endParaRPr i="1" u="sng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Conectado desconectado con relleno sólido" id="117" name="Google Shape;11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7883" y="5810588"/>
            <a:ext cx="54000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"/>
          <p:cNvSpPr txBox="1"/>
          <p:nvPr/>
        </p:nvSpPr>
        <p:spPr>
          <a:xfrm>
            <a:off x="9862982" y="6350593"/>
            <a:ext cx="220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R" sz="1800" u="sng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MÁS INFORMACIÓN</a:t>
            </a:r>
            <a:endParaRPr sz="1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293915" y="6350599"/>
            <a:ext cx="858882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R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https://colab.research.google.com/notebooks/welcome.ipynb?hl=es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9719537" y="3773119"/>
            <a:ext cx="2082900" cy="1249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B3C6E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9778162" y="3773119"/>
            <a:ext cx="2082900" cy="12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AR" sz="2000">
                <a:solidFill>
                  <a:schemeClr val="dk1"/>
                </a:solidFill>
              </a:rPr>
              <a:t>Integrado a Gemini</a:t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 txBox="1"/>
          <p:nvPr/>
        </p:nvSpPr>
        <p:spPr>
          <a:xfrm>
            <a:off x="170327" y="609729"/>
            <a:ext cx="711221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R" sz="32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Paso 1 - Activar Google Colaboratory </a:t>
            </a:r>
            <a:endParaRPr/>
          </a:p>
        </p:txBody>
      </p:sp>
      <p:pic>
        <p:nvPicPr>
          <p:cNvPr descr="A screenshot of a computer&#10;&#10;Description automatically generated" id="127" name="Google Shape;1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733" y="3221116"/>
            <a:ext cx="2052058" cy="2357542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8" name="Google Shape;128;p3"/>
          <p:cNvSpPr txBox="1"/>
          <p:nvPr/>
        </p:nvSpPr>
        <p:spPr>
          <a:xfrm>
            <a:off x="8320923" y="1000557"/>
            <a:ext cx="2875868" cy="2031325"/>
          </a:xfrm>
          <a:prstGeom prst="rect">
            <a:avLst/>
          </a:prstGeom>
          <a:solidFill>
            <a:srgbClr val="D8E2F3"/>
          </a:solidFill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Ingresando al drive personal, utilizamos el menu y  elegimos la opción “Conectar más aplicaciones”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Luego buscamos Colaborartory y elegimos la opción Instalar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3"/>
          <p:cNvCxnSpPr/>
          <p:nvPr/>
        </p:nvCxnSpPr>
        <p:spPr>
          <a:xfrm flipH="1">
            <a:off x="6892871" y="2579914"/>
            <a:ext cx="1428052" cy="1819973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130" name="Google Shape;130;p3"/>
          <p:cNvGrpSpPr/>
          <p:nvPr/>
        </p:nvGrpSpPr>
        <p:grpSpPr>
          <a:xfrm>
            <a:off x="660755" y="1123751"/>
            <a:ext cx="6232116" cy="5021199"/>
            <a:chOff x="1221134" y="1131623"/>
            <a:chExt cx="6232116" cy="5021199"/>
          </a:xfrm>
        </p:grpSpPr>
        <p:pic>
          <p:nvPicPr>
            <p:cNvPr descr="A screenshot of a computer&#10;&#10;Description automatically generated" id="131" name="Google Shape;131;p3"/>
            <p:cNvPicPr preferRelativeResize="0"/>
            <p:nvPr/>
          </p:nvPicPr>
          <p:blipFill rotWithShape="1">
            <a:blip r:embed="rId4">
              <a:alphaModFix/>
            </a:blip>
            <a:srcRect b="18948" l="0" r="0" t="0"/>
            <a:stretch/>
          </p:blipFill>
          <p:spPr>
            <a:xfrm>
              <a:off x="3463553" y="4793926"/>
              <a:ext cx="3989697" cy="1358896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32" name="Google Shape;132;p3"/>
            <p:cNvSpPr/>
            <p:nvPr/>
          </p:nvSpPr>
          <p:spPr>
            <a:xfrm>
              <a:off x="6095475" y="5277336"/>
              <a:ext cx="1041885" cy="875486"/>
            </a:xfrm>
            <a:prstGeom prst="frame">
              <a:avLst>
                <a:gd fmla="val 4392" name="adj1"/>
              </a:avLst>
            </a:prstGeom>
            <a:solidFill>
              <a:schemeClr val="accent1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3" name="Google Shape;133;p3"/>
            <p:cNvGrpSpPr/>
            <p:nvPr/>
          </p:nvGrpSpPr>
          <p:grpSpPr>
            <a:xfrm>
              <a:off x="1221134" y="1131623"/>
              <a:ext cx="6213658" cy="4145713"/>
              <a:chOff x="1221659" y="1245428"/>
              <a:chExt cx="6213658" cy="4145713"/>
            </a:xfrm>
          </p:grpSpPr>
          <p:pic>
            <p:nvPicPr>
              <p:cNvPr descr="A screenshot of a computer&#10;&#10;Description automatically generated" id="134" name="Google Shape;134;p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282490" y="1245428"/>
                <a:ext cx="6152827" cy="3572908"/>
              </a:xfrm>
              <a:prstGeom prst="rect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grpSp>
            <p:nvGrpSpPr>
              <p:cNvPr id="135" name="Google Shape;135;p3"/>
              <p:cNvGrpSpPr/>
              <p:nvPr/>
            </p:nvGrpSpPr>
            <p:grpSpPr>
              <a:xfrm>
                <a:off x="1221659" y="1689315"/>
                <a:ext cx="5671212" cy="3701826"/>
                <a:chOff x="1221659" y="1689315"/>
                <a:chExt cx="5671212" cy="3701826"/>
              </a:xfrm>
            </p:grpSpPr>
            <p:sp>
              <p:nvSpPr>
                <p:cNvPr id="136" name="Google Shape;136;p3"/>
                <p:cNvSpPr/>
                <p:nvPr/>
              </p:nvSpPr>
              <p:spPr>
                <a:xfrm>
                  <a:off x="1468470" y="1689315"/>
                  <a:ext cx="1038387" cy="418454"/>
                </a:xfrm>
                <a:prstGeom prst="frame">
                  <a:avLst>
                    <a:gd fmla="val 4392" name="adj1"/>
                  </a:avLst>
                </a:prstGeom>
                <a:solidFill>
                  <a:schemeClr val="accent1"/>
                </a:solidFill>
                <a:ln cap="flat" cmpd="sng" w="12700">
                  <a:solidFill>
                    <a:srgbClr val="1C305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" name="Google Shape;137;p3"/>
                <p:cNvSpPr/>
                <p:nvPr/>
              </p:nvSpPr>
              <p:spPr>
                <a:xfrm>
                  <a:off x="3963696" y="3426423"/>
                  <a:ext cx="852407" cy="215685"/>
                </a:xfrm>
                <a:prstGeom prst="frame">
                  <a:avLst>
                    <a:gd fmla="val 4392" name="adj1"/>
                  </a:avLst>
                </a:prstGeom>
                <a:solidFill>
                  <a:schemeClr val="accent1"/>
                </a:solidFill>
                <a:ln cap="flat" cmpd="sng" w="12700">
                  <a:solidFill>
                    <a:srgbClr val="1C305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" name="Google Shape;138;p3"/>
                <p:cNvSpPr/>
                <p:nvPr/>
              </p:nvSpPr>
              <p:spPr>
                <a:xfrm>
                  <a:off x="5517955" y="4399887"/>
                  <a:ext cx="1374916" cy="265109"/>
                </a:xfrm>
                <a:prstGeom prst="frame">
                  <a:avLst>
                    <a:gd fmla="val 4392" name="adj1"/>
                  </a:avLst>
                </a:prstGeom>
                <a:solidFill>
                  <a:schemeClr val="accent1"/>
                </a:solidFill>
                <a:ln cap="flat" cmpd="sng" w="12700">
                  <a:solidFill>
                    <a:srgbClr val="1C305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39" name="Google Shape;139;p3"/>
                <p:cNvCxnSpPr/>
                <p:nvPr/>
              </p:nvCxnSpPr>
              <p:spPr>
                <a:xfrm>
                  <a:off x="2506851" y="2107770"/>
                  <a:ext cx="1456840" cy="1318648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cxnSp>
              <p:nvCxnSpPr>
                <p:cNvPr id="140" name="Google Shape;140;p3"/>
                <p:cNvCxnSpPr/>
                <p:nvPr/>
              </p:nvCxnSpPr>
              <p:spPr>
                <a:xfrm>
                  <a:off x="4816104" y="3642108"/>
                  <a:ext cx="701857" cy="757779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cxnSp>
              <p:nvCxnSpPr>
                <p:cNvPr id="141" name="Google Shape;141;p3"/>
                <p:cNvCxnSpPr/>
                <p:nvPr/>
              </p:nvCxnSpPr>
              <p:spPr>
                <a:xfrm>
                  <a:off x="6381427" y="4664996"/>
                  <a:ext cx="0" cy="720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142" name="Google Shape;142;p3"/>
                <p:cNvSpPr/>
                <p:nvPr/>
              </p:nvSpPr>
              <p:spPr>
                <a:xfrm>
                  <a:off x="1221659" y="1689316"/>
                  <a:ext cx="306584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AR" sz="2000">
                      <a:solidFill>
                        <a:srgbClr val="D8E2F3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1</a:t>
                  </a:r>
                  <a:endParaRPr/>
                </a:p>
              </p:txBody>
            </p:sp>
            <p:sp>
              <p:nvSpPr>
                <p:cNvPr id="143" name="Google Shape;143;p3"/>
                <p:cNvSpPr/>
                <p:nvPr/>
              </p:nvSpPr>
              <p:spPr>
                <a:xfrm>
                  <a:off x="3539179" y="3346084"/>
                  <a:ext cx="306584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AR" sz="2000">
                      <a:solidFill>
                        <a:srgbClr val="D8E2F3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2</a:t>
                  </a:r>
                  <a:endParaRPr/>
                </a:p>
              </p:txBody>
            </p:sp>
            <p:sp>
              <p:nvSpPr>
                <p:cNvPr id="144" name="Google Shape;144;p3"/>
                <p:cNvSpPr/>
                <p:nvPr/>
              </p:nvSpPr>
              <p:spPr>
                <a:xfrm>
                  <a:off x="5174251" y="4391345"/>
                  <a:ext cx="306584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AR" sz="2000">
                      <a:solidFill>
                        <a:srgbClr val="D8E2F3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3</a:t>
                  </a:r>
                  <a:endParaRPr/>
                </a:p>
              </p:txBody>
            </p:sp>
            <p:sp>
              <p:nvSpPr>
                <p:cNvPr id="145" name="Google Shape;145;p3"/>
                <p:cNvSpPr/>
                <p:nvPr/>
              </p:nvSpPr>
              <p:spPr>
                <a:xfrm>
                  <a:off x="6096000" y="4991031"/>
                  <a:ext cx="306584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AR" sz="2000">
                      <a:solidFill>
                        <a:srgbClr val="D8E2F3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4</a:t>
                  </a:r>
                  <a:endParaRPr/>
                </a:p>
              </p:txBody>
            </p:sp>
          </p:grpSp>
        </p:grpSp>
      </p:grpSp>
      <p:cxnSp>
        <p:nvCxnSpPr>
          <p:cNvPr id="146" name="Google Shape;146;p3"/>
          <p:cNvCxnSpPr/>
          <p:nvPr/>
        </p:nvCxnSpPr>
        <p:spPr>
          <a:xfrm flipH="1" rot="10800000">
            <a:off x="6576981" y="4241800"/>
            <a:ext cx="2677086" cy="1336858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151" name="Google Shape;151;p4"/>
          <p:cNvPicPr preferRelativeResize="0"/>
          <p:nvPr/>
        </p:nvPicPr>
        <p:blipFill rotWithShape="1">
          <a:blip r:embed="rId3">
            <a:alphaModFix/>
          </a:blip>
          <a:srcRect b="18765" l="0" r="0" t="0"/>
          <a:stretch/>
        </p:blipFill>
        <p:spPr>
          <a:xfrm>
            <a:off x="585439" y="2611769"/>
            <a:ext cx="11110124" cy="264235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4"/>
          <p:cNvSpPr txBox="1"/>
          <p:nvPr/>
        </p:nvSpPr>
        <p:spPr>
          <a:xfrm>
            <a:off x="1369308" y="1684265"/>
            <a:ext cx="2691903" cy="400110"/>
          </a:xfrm>
          <a:prstGeom prst="rect">
            <a:avLst/>
          </a:prstGeom>
          <a:noFill/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AR" sz="2000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Nombre del archivo </a:t>
            </a:r>
            <a:endParaRPr/>
          </a:p>
        </p:txBody>
      </p:sp>
      <p:cxnSp>
        <p:nvCxnSpPr>
          <p:cNvPr id="153" name="Google Shape;153;p4"/>
          <p:cNvCxnSpPr>
            <a:stCxn id="152" idx="2"/>
          </p:cNvCxnSpPr>
          <p:nvPr/>
        </p:nvCxnSpPr>
        <p:spPr>
          <a:xfrm flipH="1">
            <a:off x="2394860" y="2084375"/>
            <a:ext cx="320400" cy="527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4" name="Google Shape;154;p4"/>
          <p:cNvSpPr txBox="1"/>
          <p:nvPr/>
        </p:nvSpPr>
        <p:spPr>
          <a:xfrm>
            <a:off x="825325" y="5554647"/>
            <a:ext cx="2462100" cy="708000"/>
          </a:xfrm>
          <a:prstGeom prst="rect">
            <a:avLst/>
          </a:prstGeom>
          <a:noFill/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AR" sz="2000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Botón de ejecución </a:t>
            </a:r>
            <a:endParaRPr/>
          </a:p>
        </p:txBody>
      </p:sp>
      <p:cxnSp>
        <p:nvCxnSpPr>
          <p:cNvPr id="155" name="Google Shape;155;p4"/>
          <p:cNvCxnSpPr>
            <a:stCxn id="154" idx="0"/>
          </p:cNvCxnSpPr>
          <p:nvPr/>
        </p:nvCxnSpPr>
        <p:spPr>
          <a:xfrm rot="10800000">
            <a:off x="1531375" y="4264947"/>
            <a:ext cx="525000" cy="12897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6" name="Google Shape;156;p4"/>
          <p:cNvSpPr txBox="1"/>
          <p:nvPr/>
        </p:nvSpPr>
        <p:spPr>
          <a:xfrm>
            <a:off x="4590275" y="5554647"/>
            <a:ext cx="2126100" cy="708000"/>
          </a:xfrm>
          <a:prstGeom prst="rect">
            <a:avLst/>
          </a:prstGeom>
          <a:noFill/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AR" sz="2000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Celda de código </a:t>
            </a:r>
            <a:endParaRPr/>
          </a:p>
        </p:txBody>
      </p:sp>
      <p:cxnSp>
        <p:nvCxnSpPr>
          <p:cNvPr id="157" name="Google Shape;157;p4"/>
          <p:cNvCxnSpPr>
            <a:stCxn id="156" idx="0"/>
          </p:cNvCxnSpPr>
          <p:nvPr/>
        </p:nvCxnSpPr>
        <p:spPr>
          <a:xfrm flipH="1" rot="10800000">
            <a:off x="5653325" y="4121547"/>
            <a:ext cx="199200" cy="14331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8" name="Google Shape;158;p4"/>
          <p:cNvSpPr txBox="1"/>
          <p:nvPr/>
        </p:nvSpPr>
        <p:spPr>
          <a:xfrm>
            <a:off x="8310700" y="5554647"/>
            <a:ext cx="2847000" cy="708000"/>
          </a:xfrm>
          <a:prstGeom prst="rect">
            <a:avLst/>
          </a:prstGeom>
          <a:noFill/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AR" sz="2000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Barra de herramientas </a:t>
            </a:r>
            <a:endParaRPr/>
          </a:p>
        </p:txBody>
      </p:sp>
      <p:cxnSp>
        <p:nvCxnSpPr>
          <p:cNvPr id="159" name="Google Shape;159;p4"/>
          <p:cNvCxnSpPr/>
          <p:nvPr/>
        </p:nvCxnSpPr>
        <p:spPr>
          <a:xfrm rot="10800000">
            <a:off x="9775556" y="3921441"/>
            <a:ext cx="0" cy="1626888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60" name="Google Shape;160;p4"/>
          <p:cNvSpPr/>
          <p:nvPr/>
        </p:nvSpPr>
        <p:spPr>
          <a:xfrm>
            <a:off x="1092470" y="3242000"/>
            <a:ext cx="1639843" cy="411247"/>
          </a:xfrm>
          <a:prstGeom prst="frame">
            <a:avLst>
              <a:gd fmla="val 20795" name="adj1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5100700" y="1684282"/>
            <a:ext cx="5256000" cy="708000"/>
          </a:xfrm>
          <a:prstGeom prst="rect">
            <a:avLst/>
          </a:prstGeom>
          <a:noFill/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AR" sz="2000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Se pueden crear celdas de código y de texto </a:t>
            </a:r>
            <a:endParaRPr/>
          </a:p>
        </p:txBody>
      </p:sp>
      <p:cxnSp>
        <p:nvCxnSpPr>
          <p:cNvPr id="162" name="Google Shape;162;p4"/>
          <p:cNvCxnSpPr>
            <a:stCxn id="161" idx="1"/>
            <a:endCxn id="160" idx="3"/>
          </p:cNvCxnSpPr>
          <p:nvPr/>
        </p:nvCxnSpPr>
        <p:spPr>
          <a:xfrm flipH="1">
            <a:off x="2732200" y="2038282"/>
            <a:ext cx="2368500" cy="1409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63" name="Google Shape;163;p4"/>
          <p:cNvSpPr txBox="1"/>
          <p:nvPr/>
        </p:nvSpPr>
        <p:spPr>
          <a:xfrm>
            <a:off x="585439" y="335753"/>
            <a:ext cx="10528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R" sz="32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Paso 2 – Ingresar a una notebook de Google Colaboratory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66264d3eb_1_21"/>
          <p:cNvSpPr txBox="1"/>
          <p:nvPr/>
        </p:nvSpPr>
        <p:spPr>
          <a:xfrm>
            <a:off x="543325" y="5457625"/>
            <a:ext cx="6189900" cy="400200"/>
          </a:xfrm>
          <a:prstGeom prst="rect">
            <a:avLst/>
          </a:prstGeom>
          <a:noFill/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AR" sz="2000">
                <a:solidFill>
                  <a:srgbClr val="1E4E79"/>
                </a:solidFill>
              </a:rPr>
              <a:t>Configuracion a gusto de cada persona. </a:t>
            </a:r>
            <a:endParaRPr/>
          </a:p>
        </p:txBody>
      </p:sp>
      <p:pic>
        <p:nvPicPr>
          <p:cNvPr id="169" name="Google Shape;169;g3766264d3eb_1_21" title="Captura de pantalla 2025-08-16 1721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3899" y="400747"/>
            <a:ext cx="4014225" cy="395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766264d3eb_1_21" title="Captura de pantalla 2025-08-16 17220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7200" y="1024225"/>
            <a:ext cx="2905125" cy="239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g3766264d3eb_1_21"/>
          <p:cNvCxnSpPr>
            <a:stCxn id="169" idx="2"/>
          </p:cNvCxnSpPr>
          <p:nvPr/>
        </p:nvCxnSpPr>
        <p:spPr>
          <a:xfrm>
            <a:off x="2891011" y="4360097"/>
            <a:ext cx="165300" cy="1113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2" name="Google Shape;172;g3766264d3eb_1_21"/>
          <p:cNvCxnSpPr>
            <a:endCxn id="173" idx="0"/>
          </p:cNvCxnSpPr>
          <p:nvPr/>
        </p:nvCxnSpPr>
        <p:spPr>
          <a:xfrm flipH="1">
            <a:off x="8730350" y="3415063"/>
            <a:ext cx="222600" cy="1235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3" name="Google Shape;173;g3766264d3eb_1_21"/>
          <p:cNvSpPr txBox="1"/>
          <p:nvPr/>
        </p:nvSpPr>
        <p:spPr>
          <a:xfrm>
            <a:off x="5635400" y="4650463"/>
            <a:ext cx="6189900" cy="708000"/>
          </a:xfrm>
          <a:prstGeom prst="rect">
            <a:avLst/>
          </a:prstGeom>
          <a:noFill/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AR" sz="2000">
                <a:solidFill>
                  <a:srgbClr val="1E4E79"/>
                </a:solidFill>
              </a:rPr>
              <a:t>Ajuste de recursos segun el proyecto, y status de uso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3646b23f07e_1_22" title="Captura de pantalla 2025-08-16 1720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663" y="180607"/>
            <a:ext cx="390525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646b23f07e_1_22"/>
          <p:cNvSpPr txBox="1"/>
          <p:nvPr/>
        </p:nvSpPr>
        <p:spPr>
          <a:xfrm>
            <a:off x="4475875" y="5860475"/>
            <a:ext cx="6189900" cy="1015800"/>
          </a:xfrm>
          <a:prstGeom prst="rect">
            <a:avLst/>
          </a:prstGeom>
          <a:noFill/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AR" sz="2000">
                <a:solidFill>
                  <a:srgbClr val="1E4E79"/>
                </a:solidFill>
              </a:rPr>
              <a:t>Ram memoria momentanea, por cantidad de procesos ejecutados en un momento dado, disco almacenamiento total</a:t>
            </a:r>
            <a:endParaRPr/>
          </a:p>
        </p:txBody>
      </p:sp>
      <p:sp>
        <p:nvSpPr>
          <p:cNvPr id="180" name="Google Shape;180;g3646b23f07e_1_22"/>
          <p:cNvSpPr txBox="1"/>
          <p:nvPr/>
        </p:nvSpPr>
        <p:spPr>
          <a:xfrm>
            <a:off x="3239630" y="588748"/>
            <a:ext cx="1073400" cy="307800"/>
          </a:xfrm>
          <a:prstGeom prst="rect">
            <a:avLst/>
          </a:prstGeom>
          <a:noFill/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1" name="Google Shape;181;g3646b23f07e_1_22"/>
          <p:cNvCxnSpPr>
            <a:stCxn id="182" idx="2"/>
          </p:cNvCxnSpPr>
          <p:nvPr/>
        </p:nvCxnSpPr>
        <p:spPr>
          <a:xfrm rot="10800000">
            <a:off x="3415250" y="5126533"/>
            <a:ext cx="649500" cy="684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83" name="Google Shape;183;g3646b23f07e_1_22"/>
          <p:cNvSpPr txBox="1"/>
          <p:nvPr/>
        </p:nvSpPr>
        <p:spPr>
          <a:xfrm>
            <a:off x="7792750" y="188550"/>
            <a:ext cx="3701100" cy="708000"/>
          </a:xfrm>
          <a:prstGeom prst="rect">
            <a:avLst/>
          </a:prstGeom>
          <a:noFill/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AR" sz="2000">
                <a:solidFill>
                  <a:srgbClr val="1E4E79"/>
                </a:solidFill>
              </a:rPr>
              <a:t>Cantidad de recursos utilizados, Hardware</a:t>
            </a:r>
            <a:endParaRPr/>
          </a:p>
        </p:txBody>
      </p:sp>
      <p:cxnSp>
        <p:nvCxnSpPr>
          <p:cNvPr id="184" name="Google Shape;184;g3646b23f07e_1_22"/>
          <p:cNvCxnSpPr/>
          <p:nvPr/>
        </p:nvCxnSpPr>
        <p:spPr>
          <a:xfrm rot="10800000">
            <a:off x="4715675" y="696001"/>
            <a:ext cx="30387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id="182" name="Google Shape;182;g3646b23f07e_1_22" title="Captura de pantalla 2025-08-16 1721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088" y="1809781"/>
            <a:ext cx="6779326" cy="4001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g3646b23f07e_1_22" title="Captura de pantalla 2025-08-16 17221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68975" y="1957397"/>
            <a:ext cx="2847000" cy="2290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6" name="Google Shape;186;g3646b23f07e_1_22"/>
          <p:cNvCxnSpPr/>
          <p:nvPr/>
        </p:nvCxnSpPr>
        <p:spPr>
          <a:xfrm>
            <a:off x="3574450" y="955975"/>
            <a:ext cx="19200" cy="8538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87" name="Google Shape;187;g3646b23f07e_1_22"/>
          <p:cNvSpPr/>
          <p:nvPr/>
        </p:nvSpPr>
        <p:spPr>
          <a:xfrm>
            <a:off x="719375" y="4533625"/>
            <a:ext cx="2847000" cy="1246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g3646b23f07e_1_22"/>
          <p:cNvCxnSpPr/>
          <p:nvPr/>
        </p:nvCxnSpPr>
        <p:spPr>
          <a:xfrm rot="10800000">
            <a:off x="3717350" y="5500925"/>
            <a:ext cx="694800" cy="6537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66264d3eb_1_5"/>
          <p:cNvSpPr txBox="1"/>
          <p:nvPr/>
        </p:nvSpPr>
        <p:spPr>
          <a:xfrm>
            <a:off x="2308175" y="3078900"/>
            <a:ext cx="6189900" cy="1323600"/>
          </a:xfrm>
          <a:prstGeom prst="rect">
            <a:avLst/>
          </a:prstGeom>
          <a:noFill/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AR" sz="2000">
                <a:solidFill>
                  <a:srgbClr val="1E4E79"/>
                </a:solidFill>
              </a:rPr>
              <a:t>Tenemos opciones como GPU ideal para entrenamiento de IA, </a:t>
            </a:r>
            <a:r>
              <a:rPr b="1" lang="en-AR" sz="2000">
                <a:solidFill>
                  <a:srgbClr val="1E4E79"/>
                </a:solidFill>
              </a:rPr>
              <a:t>imágenes</a:t>
            </a:r>
            <a:r>
              <a:rPr b="1" lang="en-AR" sz="2000">
                <a:solidFill>
                  <a:srgbClr val="1E4E79"/>
                </a:solidFill>
              </a:rPr>
              <a:t> y </a:t>
            </a:r>
            <a:r>
              <a:rPr b="1" lang="en-AR" sz="2000">
                <a:solidFill>
                  <a:srgbClr val="1E4E79"/>
                </a:solidFill>
              </a:rPr>
              <a:t>cálculos</a:t>
            </a:r>
            <a:r>
              <a:rPr b="1" lang="en-AR" sz="2000">
                <a:solidFill>
                  <a:srgbClr val="1E4E79"/>
                </a:solidFill>
              </a:rPr>
              <a:t> </a:t>
            </a:r>
            <a:r>
              <a:rPr b="1" lang="en-AR" sz="2000">
                <a:solidFill>
                  <a:srgbClr val="1E4E79"/>
                </a:solidFill>
              </a:rPr>
              <a:t>matemáticos. Ideal para mucho procesamiento en paralelo. Y por ultimo TPU</a:t>
            </a:r>
            <a:endParaRPr/>
          </a:p>
        </p:txBody>
      </p:sp>
      <p:sp>
        <p:nvSpPr>
          <p:cNvPr id="194" name="Google Shape;194;g3766264d3eb_1_5"/>
          <p:cNvSpPr txBox="1"/>
          <p:nvPr/>
        </p:nvSpPr>
        <p:spPr>
          <a:xfrm>
            <a:off x="7207650" y="581800"/>
            <a:ext cx="3701100" cy="1939500"/>
          </a:xfrm>
          <a:prstGeom prst="rect">
            <a:avLst/>
          </a:prstGeom>
          <a:noFill/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AR" sz="2000">
                <a:solidFill>
                  <a:srgbClr val="1E4E79"/>
                </a:solidFill>
              </a:rPr>
              <a:t>En cuanto al procesamiento podemos utilizar procesamiento de CPU (Default), es decir de un microprocesador. Tareas secuenciales y complejas</a:t>
            </a:r>
            <a:endParaRPr/>
          </a:p>
        </p:txBody>
      </p:sp>
      <p:cxnSp>
        <p:nvCxnSpPr>
          <p:cNvPr id="195" name="Google Shape;195;g3766264d3eb_1_5"/>
          <p:cNvCxnSpPr/>
          <p:nvPr/>
        </p:nvCxnSpPr>
        <p:spPr>
          <a:xfrm rot="10800000">
            <a:off x="4121000" y="983751"/>
            <a:ext cx="30387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id="196" name="Google Shape;196;g3766264d3eb_1_5" title="Captura de pantalla 2025-08-16 1722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4000" y="231022"/>
            <a:ext cx="2847000" cy="229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766264d3eb_1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9650" y="4545325"/>
            <a:ext cx="6343844" cy="2150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8" name="Google Shape;198;g3766264d3eb_1_5"/>
          <p:cNvCxnSpPr/>
          <p:nvPr/>
        </p:nvCxnSpPr>
        <p:spPr>
          <a:xfrm>
            <a:off x="3574475" y="2557750"/>
            <a:ext cx="105600" cy="4893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99" name="Google Shape;199;g3766264d3eb_1_5"/>
          <p:cNvCxnSpPr/>
          <p:nvPr/>
        </p:nvCxnSpPr>
        <p:spPr>
          <a:xfrm>
            <a:off x="4331150" y="4402500"/>
            <a:ext cx="260100" cy="6012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grey striped background&#10;&#10;Description automatically generated" id="204" name="Google Shape;204;p5"/>
          <p:cNvPicPr preferRelativeResize="0"/>
          <p:nvPr/>
        </p:nvPicPr>
        <p:blipFill rotWithShape="1">
          <a:blip r:embed="rId3">
            <a:alphaModFix/>
          </a:blip>
          <a:srcRect b="0" l="0" r="57073" t="0"/>
          <a:stretch/>
        </p:blipFill>
        <p:spPr>
          <a:xfrm>
            <a:off x="1552800" y="1130837"/>
            <a:ext cx="3125962" cy="2329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text&#10;&#10;Description automatically generated with medium confidence" id="205" name="Google Shape;205;p5"/>
          <p:cNvPicPr preferRelativeResize="0"/>
          <p:nvPr/>
        </p:nvPicPr>
        <p:blipFill rotWithShape="1">
          <a:blip r:embed="rId4">
            <a:alphaModFix/>
          </a:blip>
          <a:srcRect b="0" l="0" r="31296" t="0"/>
          <a:stretch/>
        </p:blipFill>
        <p:spPr>
          <a:xfrm>
            <a:off x="556334" y="3931025"/>
            <a:ext cx="5339954" cy="15961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6" name="Google Shape;206;p5"/>
          <p:cNvGrpSpPr/>
          <p:nvPr/>
        </p:nvGrpSpPr>
        <p:grpSpPr>
          <a:xfrm>
            <a:off x="4245428" y="1431000"/>
            <a:ext cx="7207671" cy="3939540"/>
            <a:chOff x="4136571" y="1140469"/>
            <a:chExt cx="7207671" cy="3939540"/>
          </a:xfrm>
        </p:grpSpPr>
        <p:sp>
          <p:nvSpPr>
            <p:cNvPr id="207" name="Google Shape;207;p5"/>
            <p:cNvSpPr/>
            <p:nvPr/>
          </p:nvSpPr>
          <p:spPr>
            <a:xfrm>
              <a:off x="7168242" y="1140469"/>
              <a:ext cx="4176000" cy="393954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  <a:path extrusionOk="0" fill="none" h="120000" w="120000">
                  <a:moveTo>
                    <a:pt x="-4253" y="0"/>
                  </a:moveTo>
                  <a:close/>
                  <a:lnTo>
                    <a:pt x="-4253" y="120000"/>
                  </a:lnTo>
                </a:path>
                <a:path extrusionOk="0" fill="none" h="120000" w="120000">
                  <a:moveTo>
                    <a:pt x="-4253" y="45160"/>
                  </a:moveTo>
                  <a:lnTo>
                    <a:pt x="-13602" y="45128"/>
                  </a:lnTo>
                  <a:lnTo>
                    <a:pt x="-46561" y="102731"/>
                  </a:lnTo>
                </a:path>
              </a:pathLst>
            </a:custGeom>
            <a:solidFill>
              <a:srgbClr val="DCE5F4"/>
            </a:solidFill>
            <a:ln cap="flat" cmpd="sng" w="28575">
              <a:solidFill>
                <a:srgbClr val="B3C6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just">
                <a:spcBef>
                  <a:spcPts val="0"/>
                </a:spcBef>
                <a:spcAft>
                  <a:spcPts val="0"/>
                </a:spcAft>
                <a:buClr>
                  <a:srgbClr val="2F5496"/>
                </a:buClr>
                <a:buSzPts val="2000"/>
                <a:buFont typeface="Noto Sans Symbols"/>
                <a:buChar char="✷"/>
              </a:pPr>
              <a:r>
                <a:rPr lang="en-AR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 pueden escribir celdas de textos o celdas de código</a:t>
              </a:r>
              <a:endParaRPr/>
            </a:p>
            <a:p>
              <a:pPr indent="-342900" lvl="0" marL="342900" marR="0" rtl="0" algn="just">
                <a:spcBef>
                  <a:spcPts val="1200"/>
                </a:spcBef>
                <a:spcAft>
                  <a:spcPts val="0"/>
                </a:spcAft>
                <a:buClr>
                  <a:srgbClr val="2F5496"/>
                </a:buClr>
                <a:buSzPts val="2000"/>
                <a:buFont typeface="Noto Sans Symbols"/>
                <a:buChar char="✷"/>
              </a:pPr>
              <a:r>
                <a:rPr lang="en-AR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El código se puede escribir en una o varias celdas.</a:t>
              </a:r>
              <a:endParaRPr/>
            </a:p>
            <a:p>
              <a:pPr indent="-342900" lvl="0" marL="342900" marR="0" rtl="0" algn="just">
                <a:spcBef>
                  <a:spcPts val="1200"/>
                </a:spcBef>
                <a:spcAft>
                  <a:spcPts val="0"/>
                </a:spcAft>
                <a:buClr>
                  <a:srgbClr val="2F5496"/>
                </a:buClr>
                <a:buSzPts val="2000"/>
                <a:buFont typeface="Noto Sans Symbols"/>
                <a:buChar char="✷"/>
              </a:pPr>
              <a:r>
                <a:rPr lang="en-AR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Luego de ejecutar la misma las variables y funciones que  creamos quedan disponibles en la notebook. </a:t>
              </a:r>
              <a:endParaRPr/>
            </a:p>
            <a:p>
              <a:pPr indent="-342900" lvl="0" marL="342900" marR="0" rtl="0" algn="just">
                <a:spcBef>
                  <a:spcPts val="1200"/>
                </a:spcBef>
                <a:spcAft>
                  <a:spcPts val="0"/>
                </a:spcAft>
                <a:buClr>
                  <a:srgbClr val="2F5496"/>
                </a:buClr>
                <a:buSzPts val="2000"/>
                <a:buFont typeface="Noto Sans Symbols"/>
                <a:buChar char="✷"/>
              </a:pPr>
              <a:r>
                <a:rPr lang="en-AR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La salida de cada ejecución se muestra a continuación de la celda de código.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8" name="Google Shape;208;p5"/>
            <p:cNvCxnSpPr/>
            <p:nvPr/>
          </p:nvCxnSpPr>
          <p:spPr>
            <a:xfrm rot="10800000">
              <a:off x="4136571" y="1872343"/>
              <a:ext cx="2587172" cy="764101"/>
            </a:xfrm>
            <a:prstGeom prst="straightConnector1">
              <a:avLst/>
            </a:prstGeom>
            <a:noFill/>
            <a:ln cap="flat" cmpd="sng" w="28575">
              <a:solidFill>
                <a:srgbClr val="B3C6E7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6"/>
          <p:cNvGrpSpPr/>
          <p:nvPr/>
        </p:nvGrpSpPr>
        <p:grpSpPr>
          <a:xfrm>
            <a:off x="981075" y="647667"/>
            <a:ext cx="10077450" cy="2041537"/>
            <a:chOff x="0" y="9492"/>
            <a:chExt cx="10077450" cy="2041537"/>
          </a:xfrm>
        </p:grpSpPr>
        <p:sp>
          <p:nvSpPr>
            <p:cNvPr id="214" name="Google Shape;214;p6"/>
            <p:cNvSpPr/>
            <p:nvPr/>
          </p:nvSpPr>
          <p:spPr>
            <a:xfrm>
              <a:off x="0" y="9492"/>
              <a:ext cx="10077450" cy="861555"/>
            </a:xfrm>
            <a:prstGeom prst="roundRect">
              <a:avLst>
                <a:gd fmla="val 16667" name="adj"/>
              </a:avLst>
            </a:prstGeom>
            <a:solidFill>
              <a:srgbClr val="D8E2F3"/>
            </a:solidFill>
            <a:ln cap="flat" cmpd="sng" w="28575">
              <a:solidFill>
                <a:srgbClr val="B3C6E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6"/>
            <p:cNvSpPr txBox="1"/>
            <p:nvPr/>
          </p:nvSpPr>
          <p:spPr>
            <a:xfrm>
              <a:off x="42058" y="51550"/>
              <a:ext cx="9993334" cy="777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AR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 las celdas de texto se puede agregar explicaciones, imágenes que complementan el desarrollo de la notebook.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6"/>
            <p:cNvSpPr/>
            <p:nvPr/>
          </p:nvSpPr>
          <p:spPr>
            <a:xfrm>
              <a:off x="0" y="923200"/>
              <a:ext cx="10077450" cy="622575"/>
            </a:xfrm>
            <a:prstGeom prst="roundRect">
              <a:avLst>
                <a:gd fmla="val 16667" name="adj"/>
              </a:avLst>
            </a:prstGeom>
            <a:solidFill>
              <a:srgbClr val="D8E2F3"/>
            </a:solidFill>
            <a:ln cap="flat" cmpd="sng" w="28575">
              <a:solidFill>
                <a:srgbClr val="B3C6E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6"/>
            <p:cNvSpPr txBox="1"/>
            <p:nvPr/>
          </p:nvSpPr>
          <p:spPr>
            <a:xfrm>
              <a:off x="30392" y="953592"/>
              <a:ext cx="10016666" cy="5617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AR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También se pueden escribir fórmulas utilizando LaTeX.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6"/>
            <p:cNvSpPr/>
            <p:nvPr/>
          </p:nvSpPr>
          <p:spPr>
            <a:xfrm>
              <a:off x="0" y="1615936"/>
              <a:ext cx="10077450" cy="435093"/>
            </a:xfrm>
            <a:prstGeom prst="roundRect">
              <a:avLst>
                <a:gd fmla="val 16667" name="adj"/>
              </a:avLst>
            </a:prstGeom>
            <a:solidFill>
              <a:srgbClr val="D8E2F3"/>
            </a:solidFill>
            <a:ln cap="flat" cmpd="sng" w="28575">
              <a:solidFill>
                <a:srgbClr val="B3C6E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6"/>
            <p:cNvSpPr txBox="1"/>
            <p:nvPr/>
          </p:nvSpPr>
          <p:spPr>
            <a:xfrm>
              <a:off x="21239" y="1637175"/>
              <a:ext cx="10034972" cy="3926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AR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 medida que escribimos, en el panel derecho se visualiza como será mostrado.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A screenshot of a black box&#10;&#10;Description automatically generated" id="220" name="Google Shape;22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3738" y="2792211"/>
            <a:ext cx="7772400" cy="12735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21" name="Google Shape;22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3738" y="4183598"/>
            <a:ext cx="7772400" cy="1925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226" name="Google Shape;22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8761" y="3476030"/>
            <a:ext cx="4203700" cy="257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27" name="Google Shape;22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8296" y="1218627"/>
            <a:ext cx="4203700" cy="257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7"/>
          <p:cNvSpPr txBox="1"/>
          <p:nvPr/>
        </p:nvSpPr>
        <p:spPr>
          <a:xfrm>
            <a:off x="11" y="264313"/>
            <a:ext cx="9717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R" sz="28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Se pueden encontrar distintas utilidades en el panel izquierdo</a:t>
            </a:r>
            <a:endParaRPr/>
          </a:p>
        </p:txBody>
      </p:sp>
      <p:grpSp>
        <p:nvGrpSpPr>
          <p:cNvPr id="229" name="Google Shape;229;p7"/>
          <p:cNvGrpSpPr/>
          <p:nvPr/>
        </p:nvGrpSpPr>
        <p:grpSpPr>
          <a:xfrm>
            <a:off x="6305369" y="1604118"/>
            <a:ext cx="4203700" cy="1292850"/>
            <a:chOff x="0" y="78456"/>
            <a:chExt cx="4203700" cy="1292850"/>
          </a:xfrm>
        </p:grpSpPr>
        <p:sp>
          <p:nvSpPr>
            <p:cNvPr id="230" name="Google Shape;230;p7"/>
            <p:cNvSpPr/>
            <p:nvPr/>
          </p:nvSpPr>
          <p:spPr>
            <a:xfrm>
              <a:off x="0" y="78456"/>
              <a:ext cx="4203700" cy="1292850"/>
            </a:xfrm>
            <a:prstGeom prst="roundRect">
              <a:avLst>
                <a:gd fmla="val 16667" name="adj"/>
              </a:avLst>
            </a:prstGeom>
            <a:solidFill>
              <a:srgbClr val="D8E2F3"/>
            </a:solidFill>
            <a:ln cap="flat" cmpd="sng" w="28575">
              <a:solidFill>
                <a:srgbClr val="B3C6E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7"/>
            <p:cNvSpPr txBox="1"/>
            <p:nvPr/>
          </p:nvSpPr>
          <p:spPr>
            <a:xfrm>
              <a:off x="63112" y="141568"/>
              <a:ext cx="4077476" cy="11666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AR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Aquí podemos ver el enviroment con las variables que vamos creando, ojo si lo dejamos abierto puede disminuir el rendimiento.</a:t>
              </a:r>
              <a:endParaRPr/>
            </a:p>
          </p:txBody>
        </p:sp>
      </p:grpSp>
      <p:grpSp>
        <p:nvGrpSpPr>
          <p:cNvPr id="232" name="Google Shape;232;p7"/>
          <p:cNvGrpSpPr/>
          <p:nvPr/>
        </p:nvGrpSpPr>
        <p:grpSpPr>
          <a:xfrm>
            <a:off x="1435101" y="3887916"/>
            <a:ext cx="4490244" cy="2115957"/>
            <a:chOff x="0" y="0"/>
            <a:chExt cx="4490244" cy="2115957"/>
          </a:xfrm>
        </p:grpSpPr>
        <p:sp>
          <p:nvSpPr>
            <p:cNvPr id="233" name="Google Shape;233;p7"/>
            <p:cNvSpPr/>
            <p:nvPr/>
          </p:nvSpPr>
          <p:spPr>
            <a:xfrm>
              <a:off x="0" y="0"/>
              <a:ext cx="4490244" cy="1006931"/>
            </a:xfrm>
            <a:prstGeom prst="roundRect">
              <a:avLst>
                <a:gd fmla="val 16667" name="adj"/>
              </a:avLst>
            </a:prstGeom>
            <a:solidFill>
              <a:srgbClr val="D8E2F3"/>
            </a:solidFill>
            <a:ln cap="flat" cmpd="sng" w="28575">
              <a:solidFill>
                <a:srgbClr val="B3C6E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7"/>
            <p:cNvSpPr txBox="1"/>
            <p:nvPr/>
          </p:nvSpPr>
          <p:spPr>
            <a:xfrm>
              <a:off x="49154" y="49154"/>
              <a:ext cx="4391936" cy="908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AR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Aquí vemos los archivos, se pueden subir cada vez desde la computadora, </a:t>
              </a:r>
              <a:endParaRPr/>
            </a:p>
          </p:txBody>
        </p:sp>
        <p:sp>
          <p:nvSpPr>
            <p:cNvPr id="235" name="Google Shape;235;p7"/>
            <p:cNvSpPr/>
            <p:nvPr/>
          </p:nvSpPr>
          <p:spPr>
            <a:xfrm>
              <a:off x="0" y="1109026"/>
              <a:ext cx="4490244" cy="1006931"/>
            </a:xfrm>
            <a:prstGeom prst="roundRect">
              <a:avLst>
                <a:gd fmla="val 16667" name="adj"/>
              </a:avLst>
            </a:prstGeom>
            <a:solidFill>
              <a:srgbClr val="D8E2F3"/>
            </a:solidFill>
            <a:ln cap="flat" cmpd="sng" w="28575">
              <a:solidFill>
                <a:srgbClr val="B3C6E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7"/>
            <p:cNvSpPr txBox="1"/>
            <p:nvPr/>
          </p:nvSpPr>
          <p:spPr>
            <a:xfrm>
              <a:off x="49154" y="1158180"/>
              <a:ext cx="4391936" cy="908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AR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 también se puede optar por conectar al Drive personal y disponer de todos los archivos.</a:t>
              </a:r>
              <a:endParaRPr/>
            </a:p>
          </p:txBody>
        </p:sp>
      </p:grpSp>
      <p:cxnSp>
        <p:nvCxnSpPr>
          <p:cNvPr id="237" name="Google Shape;237;p7"/>
          <p:cNvCxnSpPr/>
          <p:nvPr/>
        </p:nvCxnSpPr>
        <p:spPr>
          <a:xfrm flipH="1" rot="10800000">
            <a:off x="5925345" y="4175584"/>
            <a:ext cx="1204510" cy="306025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38" name="Google Shape;238;p7"/>
          <p:cNvSpPr/>
          <p:nvPr/>
        </p:nvSpPr>
        <p:spPr>
          <a:xfrm>
            <a:off x="7129855" y="3941358"/>
            <a:ext cx="637382" cy="439133"/>
          </a:xfrm>
          <a:prstGeom prst="frame">
            <a:avLst>
              <a:gd fmla="val 3125" name="adj1"/>
            </a:avLst>
          </a:prstGeom>
          <a:solidFill>
            <a:srgbClr val="B3C6E7"/>
          </a:solidFill>
          <a:ln cap="flat" cmpd="sng" w="28575">
            <a:solidFill>
              <a:srgbClr val="B3C6E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8282387" y="3990089"/>
            <a:ext cx="637382" cy="390396"/>
          </a:xfrm>
          <a:prstGeom prst="frame">
            <a:avLst>
              <a:gd fmla="val 3125" name="adj1"/>
            </a:avLst>
          </a:prstGeom>
          <a:solidFill>
            <a:srgbClr val="B3C6E7"/>
          </a:solidFill>
          <a:ln cap="flat" cmpd="sng" w="28575">
            <a:solidFill>
              <a:srgbClr val="B3C6E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7"/>
          <p:cNvCxnSpPr/>
          <p:nvPr/>
        </p:nvCxnSpPr>
        <p:spPr>
          <a:xfrm flipH="1" rot="10800000">
            <a:off x="5925345" y="4380491"/>
            <a:ext cx="2357042" cy="1153534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245" name="Google Shape;245;p8"/>
          <p:cNvPicPr preferRelativeResize="0"/>
          <p:nvPr/>
        </p:nvPicPr>
        <p:blipFill rotWithShape="1">
          <a:blip r:embed="rId3">
            <a:alphaModFix/>
          </a:blip>
          <a:srcRect b="33845" l="0" r="0" t="0"/>
          <a:stretch/>
        </p:blipFill>
        <p:spPr>
          <a:xfrm>
            <a:off x="5765647" y="1798644"/>
            <a:ext cx="5112000" cy="16262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46" name="Google Shape;246;p8"/>
          <p:cNvPicPr preferRelativeResize="0"/>
          <p:nvPr/>
        </p:nvPicPr>
        <p:blipFill rotWithShape="1">
          <a:blip r:embed="rId4">
            <a:alphaModFix/>
          </a:blip>
          <a:srcRect b="34228" l="0" r="0" t="0"/>
          <a:stretch/>
        </p:blipFill>
        <p:spPr>
          <a:xfrm>
            <a:off x="5765648" y="4318008"/>
            <a:ext cx="5112000" cy="16168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47" name="Google Shape;247;p8"/>
          <p:cNvPicPr preferRelativeResize="0"/>
          <p:nvPr/>
        </p:nvPicPr>
        <p:blipFill rotWithShape="1">
          <a:blip r:embed="rId5">
            <a:alphaModFix/>
          </a:blip>
          <a:srcRect b="0" l="13211" r="0" t="0"/>
          <a:stretch/>
        </p:blipFill>
        <p:spPr>
          <a:xfrm>
            <a:off x="1143006" y="785289"/>
            <a:ext cx="3390111" cy="5160424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8"/>
          <p:cNvSpPr txBox="1"/>
          <p:nvPr/>
        </p:nvSpPr>
        <p:spPr>
          <a:xfrm>
            <a:off x="5765647" y="756796"/>
            <a:ext cx="5112000" cy="923330"/>
          </a:xfrm>
          <a:prstGeom prst="rect">
            <a:avLst/>
          </a:prstGeom>
          <a:solidFill>
            <a:srgbClr val="D8E2F3"/>
          </a:solidFill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A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tenemos una notebook creada, tener en cuenta que son archivos de extensión .ipynb, se puede abrir de esta  manera. </a:t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1303741" y="2190951"/>
            <a:ext cx="953689" cy="318490"/>
          </a:xfrm>
          <a:prstGeom prst="frame">
            <a:avLst>
              <a:gd fmla="val 3125" name="adj1"/>
            </a:avLst>
          </a:prstGeom>
          <a:solidFill>
            <a:srgbClr val="B3C6E7"/>
          </a:solidFill>
          <a:ln cap="flat" cmpd="sng" w="28575">
            <a:solidFill>
              <a:srgbClr val="B3C6E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" name="Google Shape;250;p8"/>
          <p:cNvCxnSpPr/>
          <p:nvPr/>
        </p:nvCxnSpPr>
        <p:spPr>
          <a:xfrm>
            <a:off x="2257430" y="2509441"/>
            <a:ext cx="3705220" cy="167084"/>
          </a:xfrm>
          <a:prstGeom prst="straightConnector1">
            <a:avLst/>
          </a:prstGeom>
          <a:noFill/>
          <a:ln cap="flat" cmpd="sng" w="28575">
            <a:solidFill>
              <a:srgbClr val="8DA9DB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1" name="Google Shape;251;p8"/>
          <p:cNvSpPr txBox="1"/>
          <p:nvPr/>
        </p:nvSpPr>
        <p:spPr>
          <a:xfrm>
            <a:off x="5765648" y="3757121"/>
            <a:ext cx="5112000" cy="369332"/>
          </a:xfrm>
          <a:prstGeom prst="rect">
            <a:avLst/>
          </a:prstGeom>
          <a:solidFill>
            <a:srgbClr val="D8E2F3"/>
          </a:solidFill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También podemos buscar en el drive personal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2013 - Tema de 2022">
  <a:themeElements>
    <a:clrScheme name="Office 2013 - Tema de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2020-07-06T22:02:43Z</dcterms:created>
  <dc:creator>Fernando Martínez</dc:creator>
</cp:coreProperties>
</file>